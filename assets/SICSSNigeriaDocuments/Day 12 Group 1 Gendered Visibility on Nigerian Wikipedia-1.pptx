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nton" pitchFamily="2" charset="0"/>
      <p:regular r:id="rId10"/>
    </p:embeddedFont>
    <p:embeddedFont>
      <p:font typeface="Calibri" panose="020F0502020204030204" pitchFamily="34" charset="0"/>
      <p:regular r:id="rId11"/>
      <p:bold r:id="rId12"/>
      <p:italic r:id="rId13"/>
      <p:boldItalic r:id="rId14"/>
    </p:embeddedFont>
    <p:embeddedFont>
      <p:font typeface="DM Sans" panose="020B0604020202020204" charset="0"/>
      <p:regular r:id="rId15"/>
    </p:embeddedFont>
    <p:embeddedFont>
      <p:font typeface="DM Sa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07/29/2026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11.sv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21.png"/><Relationship Id="rId4" Type="http://schemas.openxmlformats.org/officeDocument/2006/relationships/image" Target="../media/image20.sv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4.svg"/></Relationships>
</file>

<file path=ppt/slides/_rels/slide8.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0" y="0"/>
            <a:ext cx="613900" cy="5143500"/>
            <a:chOff x="0" y="0"/>
            <a:chExt cx="126317" cy="1058333"/>
          </a:xfrm>
        </p:grpSpPr>
        <p:sp>
          <p:nvSpPr>
            <p:cNvPr id="4" name="Freeform 4"/>
            <p:cNvSpPr/>
            <p:nvPr/>
          </p:nvSpPr>
          <p:spPr>
            <a:xfrm>
              <a:off x="0" y="0"/>
              <a:ext cx="126317" cy="1058333"/>
            </a:xfrm>
            <a:custGeom>
              <a:avLst/>
              <a:gdLst/>
              <a:ahLst/>
              <a:cxnLst/>
              <a:rect l="l" t="t" r="r" b="b"/>
              <a:pathLst>
                <a:path w="126317" h="1058333">
                  <a:moveTo>
                    <a:pt x="0" y="0"/>
                  </a:moveTo>
                  <a:lnTo>
                    <a:pt x="126317" y="0"/>
                  </a:lnTo>
                  <a:lnTo>
                    <a:pt x="126317" y="1058333"/>
                  </a:lnTo>
                  <a:lnTo>
                    <a:pt x="0" y="1058333"/>
                  </a:lnTo>
                  <a:close/>
                </a:path>
              </a:pathLst>
            </a:custGeom>
            <a:solidFill>
              <a:srgbClr val="6A7D60"/>
            </a:solidFill>
          </p:spPr>
        </p:sp>
        <p:sp>
          <p:nvSpPr>
            <p:cNvPr id="5" name="TextBox 5"/>
            <p:cNvSpPr txBox="1"/>
            <p:nvPr/>
          </p:nvSpPr>
          <p:spPr>
            <a:xfrm>
              <a:off x="0" y="-38100"/>
              <a:ext cx="126317" cy="1096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542691" y="7385800"/>
            <a:ext cx="19373382" cy="8101596"/>
          </a:xfrm>
          <a:custGeom>
            <a:avLst/>
            <a:gdLst/>
            <a:ahLst/>
            <a:cxnLst/>
            <a:rect l="l" t="t" r="r" b="b"/>
            <a:pathLst>
              <a:path w="19373382" h="8101596">
                <a:moveTo>
                  <a:pt x="0" y="0"/>
                </a:moveTo>
                <a:lnTo>
                  <a:pt x="19373382" y="0"/>
                </a:lnTo>
                <a:lnTo>
                  <a:pt x="19373382" y="8101597"/>
                </a:lnTo>
                <a:lnTo>
                  <a:pt x="0" y="8101597"/>
                </a:lnTo>
                <a:lnTo>
                  <a:pt x="0" y="0"/>
                </a:lnTo>
                <a:close/>
              </a:path>
            </a:pathLst>
          </a:custGeom>
          <a:blipFill>
            <a:blip r:embed="rId3">
              <a:alphaModFix amt="16000"/>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5400000">
            <a:off x="8837050" y="836050"/>
            <a:ext cx="613900" cy="18288000"/>
            <a:chOff x="0" y="0"/>
            <a:chExt cx="126317" cy="3762963"/>
          </a:xfrm>
        </p:grpSpPr>
        <p:sp>
          <p:nvSpPr>
            <p:cNvPr id="8" name="Freeform 8"/>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9" name="TextBox 9"/>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Freeform 10"/>
          <p:cNvSpPr/>
          <p:nvPr/>
        </p:nvSpPr>
        <p:spPr>
          <a:xfrm>
            <a:off x="16792921" y="627386"/>
            <a:ext cx="802628" cy="802628"/>
          </a:xfrm>
          <a:custGeom>
            <a:avLst/>
            <a:gdLst/>
            <a:ahLst/>
            <a:cxnLst/>
            <a:rect l="l" t="t" r="r" b="b"/>
            <a:pathLst>
              <a:path w="802628" h="802628">
                <a:moveTo>
                  <a:pt x="0" y="0"/>
                </a:moveTo>
                <a:lnTo>
                  <a:pt x="802627" y="0"/>
                </a:lnTo>
                <a:lnTo>
                  <a:pt x="802627" y="802628"/>
                </a:lnTo>
                <a:lnTo>
                  <a:pt x="0" y="802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8752831">
            <a:off x="14888443" y="-1244404"/>
            <a:ext cx="5414211" cy="4114800"/>
          </a:xfrm>
          <a:custGeom>
            <a:avLst/>
            <a:gdLst/>
            <a:ahLst/>
            <a:cxnLst/>
            <a:rect l="l" t="t" r="r" b="b"/>
            <a:pathLst>
              <a:path w="5414211" h="4114800">
                <a:moveTo>
                  <a:pt x="0" y="0"/>
                </a:moveTo>
                <a:lnTo>
                  <a:pt x="5414211" y="0"/>
                </a:lnTo>
                <a:lnTo>
                  <a:pt x="541421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Freeform 12"/>
          <p:cNvSpPr/>
          <p:nvPr/>
        </p:nvSpPr>
        <p:spPr>
          <a:xfrm>
            <a:off x="7339889" y="95489"/>
            <a:ext cx="2969319" cy="1334525"/>
          </a:xfrm>
          <a:custGeom>
            <a:avLst/>
            <a:gdLst/>
            <a:ahLst/>
            <a:cxnLst/>
            <a:rect l="l" t="t" r="r" b="b"/>
            <a:pathLst>
              <a:path w="2969319" h="1334525">
                <a:moveTo>
                  <a:pt x="0" y="0"/>
                </a:moveTo>
                <a:lnTo>
                  <a:pt x="2969319" y="0"/>
                </a:lnTo>
                <a:lnTo>
                  <a:pt x="2969319" y="1334525"/>
                </a:lnTo>
                <a:lnTo>
                  <a:pt x="0" y="1334525"/>
                </a:lnTo>
                <a:lnTo>
                  <a:pt x="0" y="0"/>
                </a:lnTo>
                <a:close/>
              </a:path>
            </a:pathLst>
          </a:custGeom>
          <a:blipFill>
            <a:blip r:embed="rId9"/>
            <a:stretch>
              <a:fillRect l="-77331" t="-79270" r="-71395" b="-132027"/>
            </a:stretch>
          </a:blipFill>
        </p:spPr>
      </p:sp>
      <p:sp>
        <p:nvSpPr>
          <p:cNvPr id="13" name="TextBox 13"/>
          <p:cNvSpPr txBox="1"/>
          <p:nvPr/>
        </p:nvSpPr>
        <p:spPr>
          <a:xfrm>
            <a:off x="2690887" y="2732339"/>
            <a:ext cx="12906226" cy="2771475"/>
          </a:xfrm>
          <a:prstGeom prst="rect">
            <a:avLst/>
          </a:prstGeom>
        </p:spPr>
        <p:txBody>
          <a:bodyPr lIns="0" tIns="0" rIns="0" bIns="0" rtlCol="0" anchor="t">
            <a:spAutoFit/>
          </a:bodyPr>
          <a:lstStyle/>
          <a:p>
            <a:pPr marL="0" lvl="0" indent="0" algn="ctr">
              <a:lnSpc>
                <a:spcPts val="7354"/>
              </a:lnSpc>
              <a:spcBef>
                <a:spcPct val="0"/>
              </a:spcBef>
            </a:pPr>
            <a:r>
              <a:rPr lang="en-US" sz="5253" dirty="0">
                <a:solidFill>
                  <a:srgbClr val="143B00"/>
                </a:solidFill>
                <a:latin typeface="Anton"/>
                <a:ea typeface="Anton"/>
                <a:cs typeface="Anton"/>
                <a:sym typeface="Anton"/>
              </a:rPr>
              <a:t>Gendered Visibility on Wikipedia: A Computational Corpus Analysis of Nigerian Women Scientists and Science Educators </a:t>
            </a:r>
          </a:p>
        </p:txBody>
      </p:sp>
      <p:sp>
        <p:nvSpPr>
          <p:cNvPr id="14" name="TextBox 14"/>
          <p:cNvSpPr txBox="1"/>
          <p:nvPr/>
        </p:nvSpPr>
        <p:spPr>
          <a:xfrm>
            <a:off x="2690887" y="6834028"/>
            <a:ext cx="12906226" cy="1046394"/>
          </a:xfrm>
          <a:prstGeom prst="rect">
            <a:avLst/>
          </a:prstGeom>
        </p:spPr>
        <p:txBody>
          <a:bodyPr lIns="0" tIns="0" rIns="0" bIns="0" rtlCol="0" anchor="t">
            <a:spAutoFit/>
          </a:bodyPr>
          <a:lstStyle/>
          <a:p>
            <a:pPr algn="ctr">
              <a:lnSpc>
                <a:spcPts val="4274"/>
              </a:lnSpc>
            </a:pPr>
            <a:r>
              <a:rPr lang="en-US" sz="3053">
                <a:solidFill>
                  <a:srgbClr val="143B00"/>
                </a:solidFill>
                <a:latin typeface="Anton"/>
                <a:ea typeface="Anton"/>
                <a:cs typeface="Anton"/>
                <a:sym typeface="Anton"/>
              </a:rPr>
              <a:t>Presented by Research Group 1</a:t>
            </a:r>
          </a:p>
          <a:p>
            <a:pPr marL="0" lvl="0" indent="0" algn="ctr">
              <a:lnSpc>
                <a:spcPts val="4274"/>
              </a:lnSpc>
              <a:spcBef>
                <a:spcPct val="0"/>
              </a:spcBef>
            </a:pPr>
            <a:r>
              <a:rPr lang="en-US" sz="3053">
                <a:solidFill>
                  <a:srgbClr val="143B00"/>
                </a:solidFill>
                <a:latin typeface="Anton"/>
                <a:ea typeface="Anton"/>
                <a:cs typeface="Anton"/>
                <a:sym typeface="Anton"/>
              </a:rPr>
              <a:t>July 31, 2026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rot="2700000">
            <a:off x="-6585263" y="-4320101"/>
            <a:ext cx="11586526" cy="8026303"/>
          </a:xfrm>
          <a:custGeom>
            <a:avLst/>
            <a:gdLst/>
            <a:ahLst/>
            <a:cxnLst/>
            <a:rect l="l" t="t" r="r" b="b"/>
            <a:pathLst>
              <a:path w="11586526" h="8026303">
                <a:moveTo>
                  <a:pt x="0" y="0"/>
                </a:moveTo>
                <a:lnTo>
                  <a:pt x="11586527" y="0"/>
                </a:lnTo>
                <a:lnTo>
                  <a:pt x="11586527" y="8026303"/>
                </a:lnTo>
                <a:lnTo>
                  <a:pt x="0" y="8026303"/>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5400000">
            <a:off x="3700010" y="-4006960"/>
            <a:ext cx="613900" cy="8013919"/>
            <a:chOff x="0" y="0"/>
            <a:chExt cx="126317" cy="1648955"/>
          </a:xfrm>
        </p:grpSpPr>
        <p:sp>
          <p:nvSpPr>
            <p:cNvPr id="5" name="Freeform 5"/>
            <p:cNvSpPr/>
            <p:nvPr/>
          </p:nvSpPr>
          <p:spPr>
            <a:xfrm>
              <a:off x="0" y="0"/>
              <a:ext cx="126317" cy="1648955"/>
            </a:xfrm>
            <a:custGeom>
              <a:avLst/>
              <a:gdLst/>
              <a:ahLst/>
              <a:cxnLst/>
              <a:rect l="l" t="t" r="r" b="b"/>
              <a:pathLst>
                <a:path w="126317" h="1648955">
                  <a:moveTo>
                    <a:pt x="0" y="0"/>
                  </a:moveTo>
                  <a:lnTo>
                    <a:pt x="126317" y="0"/>
                  </a:lnTo>
                  <a:lnTo>
                    <a:pt x="126317" y="1648955"/>
                  </a:lnTo>
                  <a:lnTo>
                    <a:pt x="0" y="1648955"/>
                  </a:lnTo>
                  <a:close/>
                </a:path>
              </a:pathLst>
            </a:custGeom>
            <a:solidFill>
              <a:srgbClr val="6A7D60"/>
            </a:solidFill>
          </p:spPr>
        </p:sp>
        <p:sp>
          <p:nvSpPr>
            <p:cNvPr id="6" name="TextBox 6"/>
            <p:cNvSpPr txBox="1"/>
            <p:nvPr/>
          </p:nvSpPr>
          <p:spPr>
            <a:xfrm>
              <a:off x="0" y="-38100"/>
              <a:ext cx="126317" cy="16870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rot="-5400000">
            <a:off x="8837050" y="836050"/>
            <a:ext cx="613900" cy="18288000"/>
            <a:chOff x="0" y="0"/>
            <a:chExt cx="126317" cy="3762963"/>
          </a:xfrm>
        </p:grpSpPr>
        <p:sp>
          <p:nvSpPr>
            <p:cNvPr id="8" name="Freeform 8"/>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9" name="TextBox 9"/>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rot="-5400000">
            <a:off x="9516413" y="1515413"/>
            <a:ext cx="8229600" cy="7256174"/>
            <a:chOff x="0" y="0"/>
            <a:chExt cx="1693333" cy="1493040"/>
          </a:xfrm>
        </p:grpSpPr>
        <p:sp>
          <p:nvSpPr>
            <p:cNvPr id="11" name="Freeform 11"/>
            <p:cNvSpPr/>
            <p:nvPr/>
          </p:nvSpPr>
          <p:spPr>
            <a:xfrm>
              <a:off x="0" y="0"/>
              <a:ext cx="1693333" cy="1493040"/>
            </a:xfrm>
            <a:custGeom>
              <a:avLst/>
              <a:gdLst/>
              <a:ahLst/>
              <a:cxnLst/>
              <a:rect l="l" t="t" r="r" b="b"/>
              <a:pathLst>
                <a:path w="1693333" h="1493040">
                  <a:moveTo>
                    <a:pt x="0" y="0"/>
                  </a:moveTo>
                  <a:lnTo>
                    <a:pt x="1693333" y="0"/>
                  </a:lnTo>
                  <a:lnTo>
                    <a:pt x="1693333" y="1493040"/>
                  </a:lnTo>
                  <a:lnTo>
                    <a:pt x="0" y="1493040"/>
                  </a:lnTo>
                  <a:close/>
                </a:path>
              </a:pathLst>
            </a:custGeom>
            <a:ln w="38100" cap="sq">
              <a:solidFill>
                <a:srgbClr val="000000"/>
              </a:solidFill>
              <a:prstDash val="solid"/>
              <a:miter/>
            </a:ln>
          </p:spPr>
        </p:sp>
        <p:sp>
          <p:nvSpPr>
            <p:cNvPr id="12" name="TextBox 12"/>
            <p:cNvSpPr txBox="1"/>
            <p:nvPr/>
          </p:nvSpPr>
          <p:spPr>
            <a:xfrm>
              <a:off x="0" y="-38100"/>
              <a:ext cx="1693333" cy="153114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028700" y="4767280"/>
            <a:ext cx="8266117" cy="4483137"/>
            <a:chOff x="0" y="0"/>
            <a:chExt cx="1143245" cy="620040"/>
          </a:xfrm>
        </p:grpSpPr>
        <p:sp>
          <p:nvSpPr>
            <p:cNvPr id="14" name="Freeform 14"/>
            <p:cNvSpPr/>
            <p:nvPr/>
          </p:nvSpPr>
          <p:spPr>
            <a:xfrm>
              <a:off x="0" y="0"/>
              <a:ext cx="1143245" cy="620040"/>
            </a:xfrm>
            <a:custGeom>
              <a:avLst/>
              <a:gdLst/>
              <a:ahLst/>
              <a:cxnLst/>
              <a:rect l="l" t="t" r="r" b="b"/>
              <a:pathLst>
                <a:path w="1143245" h="620040">
                  <a:moveTo>
                    <a:pt x="0" y="0"/>
                  </a:moveTo>
                  <a:lnTo>
                    <a:pt x="1143245" y="0"/>
                  </a:lnTo>
                  <a:lnTo>
                    <a:pt x="1143245" y="620040"/>
                  </a:lnTo>
                  <a:lnTo>
                    <a:pt x="0" y="620040"/>
                  </a:lnTo>
                  <a:close/>
                </a:path>
              </a:pathLst>
            </a:custGeom>
            <a:blipFill>
              <a:blip r:embed="rId5"/>
              <a:stretch>
                <a:fillRect t="-589" b="-589"/>
              </a:stretch>
            </a:blipFill>
          </p:spPr>
        </p:sp>
      </p:grpSp>
      <p:sp>
        <p:nvSpPr>
          <p:cNvPr id="15" name="TextBox 15"/>
          <p:cNvSpPr txBox="1"/>
          <p:nvPr/>
        </p:nvSpPr>
        <p:spPr>
          <a:xfrm>
            <a:off x="1028700" y="821092"/>
            <a:ext cx="8692362" cy="3067666"/>
          </a:xfrm>
          <a:prstGeom prst="rect">
            <a:avLst/>
          </a:prstGeom>
        </p:spPr>
        <p:txBody>
          <a:bodyPr lIns="0" tIns="0" rIns="0" bIns="0" rtlCol="0" anchor="t">
            <a:spAutoFit/>
          </a:bodyPr>
          <a:lstStyle/>
          <a:p>
            <a:pPr marL="0" lvl="0" indent="0" algn="l">
              <a:lnSpc>
                <a:spcPts val="12101"/>
              </a:lnSpc>
            </a:pPr>
            <a:r>
              <a:rPr lang="en-US" sz="9838" spc="511">
                <a:solidFill>
                  <a:srgbClr val="0F2E00"/>
                </a:solidFill>
                <a:latin typeface="Anton"/>
                <a:ea typeface="Anton"/>
                <a:cs typeface="Anton"/>
                <a:sym typeface="Anton"/>
              </a:rPr>
              <a:t>Background</a:t>
            </a:r>
          </a:p>
          <a:p>
            <a:pPr marL="0" lvl="0" indent="0" algn="l">
              <a:lnSpc>
                <a:spcPts val="12101"/>
              </a:lnSpc>
            </a:pPr>
            <a:r>
              <a:rPr lang="en-US" sz="9838" spc="511">
                <a:solidFill>
                  <a:srgbClr val="0F2E00"/>
                </a:solidFill>
                <a:latin typeface="Anton"/>
                <a:ea typeface="Anton"/>
                <a:cs typeface="Anton"/>
                <a:sym typeface="Anton"/>
              </a:rPr>
              <a:t>&amp; Problem</a:t>
            </a:r>
          </a:p>
        </p:txBody>
      </p:sp>
      <p:sp>
        <p:nvSpPr>
          <p:cNvPr id="16" name="TextBox 16"/>
          <p:cNvSpPr txBox="1"/>
          <p:nvPr/>
        </p:nvSpPr>
        <p:spPr>
          <a:xfrm>
            <a:off x="10246670" y="962025"/>
            <a:ext cx="6769087" cy="8772784"/>
          </a:xfrm>
          <a:prstGeom prst="rect">
            <a:avLst/>
          </a:prstGeom>
        </p:spPr>
        <p:txBody>
          <a:bodyPr lIns="0" tIns="0" rIns="0" bIns="0" rtlCol="0" anchor="t">
            <a:spAutoFit/>
          </a:bodyPr>
          <a:lstStyle/>
          <a:p>
            <a:pPr marL="0" lvl="0" indent="0" algn="l">
              <a:lnSpc>
                <a:spcPts val="4304"/>
              </a:lnSpc>
            </a:pPr>
            <a:r>
              <a:rPr lang="en-US" sz="3074" b="1">
                <a:solidFill>
                  <a:srgbClr val="000000"/>
                </a:solidFill>
                <a:latin typeface="DM Sans Bold"/>
                <a:ea typeface="DM Sans Bold"/>
                <a:cs typeface="DM Sans Bold"/>
                <a:sym typeface="DM Sans Bold"/>
              </a:rPr>
              <a:t>Nigeria has documented gender gaps in STEM participation, including unequal enrollment rates, persistent stereotypes, and limited engagement of women in research and teaching roles at tertiary institutions.</a:t>
            </a:r>
          </a:p>
          <a:p>
            <a:pPr marL="0" lvl="0" indent="0" algn="l">
              <a:lnSpc>
                <a:spcPts val="4304"/>
              </a:lnSpc>
            </a:pPr>
            <a:endParaRPr lang="en-US" sz="3074" b="1">
              <a:solidFill>
                <a:srgbClr val="000000"/>
              </a:solidFill>
              <a:latin typeface="DM Sans Bold"/>
              <a:ea typeface="DM Sans Bold"/>
              <a:cs typeface="DM Sans Bold"/>
              <a:sym typeface="DM Sans Bold"/>
            </a:endParaRPr>
          </a:p>
          <a:p>
            <a:pPr marL="0" lvl="0" indent="0" algn="l">
              <a:lnSpc>
                <a:spcPts val="4304"/>
              </a:lnSpc>
            </a:pPr>
            <a:r>
              <a:rPr lang="en-US" sz="3074" b="1">
                <a:solidFill>
                  <a:srgbClr val="000000"/>
                </a:solidFill>
                <a:latin typeface="DM Sans Bold"/>
                <a:ea typeface="DM Sans Bold"/>
                <a:cs typeface="DM Sans Bold"/>
                <a:sym typeface="DM Sans Bold"/>
              </a:rPr>
              <a:t>Wikipedia exhibits both gendered and geographic representational bias; women scientists are less likely to have biographies, and existing ones tend to be shorter and less developed than those of their male counterparts.</a:t>
            </a:r>
          </a:p>
          <a:p>
            <a:pPr marL="0" lvl="0" indent="0" algn="l">
              <a:lnSpc>
                <a:spcPts val="5117"/>
              </a:lnSpc>
            </a:pPr>
            <a:endParaRPr lang="en-US" sz="3074" b="1">
              <a:solidFill>
                <a:srgbClr val="000000"/>
              </a:solidFill>
              <a:latin typeface="DM Sans Bold"/>
              <a:ea typeface="DM Sans Bold"/>
              <a:cs typeface="DM Sans Bold"/>
              <a:sym typeface="DM Sans Bold"/>
            </a:endParaRPr>
          </a:p>
        </p:txBody>
      </p:sp>
      <p:sp>
        <p:nvSpPr>
          <p:cNvPr id="17" name="Freeform 17"/>
          <p:cNvSpPr/>
          <p:nvPr/>
        </p:nvSpPr>
        <p:spPr>
          <a:xfrm>
            <a:off x="7858418" y="0"/>
            <a:ext cx="2144708" cy="963914"/>
          </a:xfrm>
          <a:custGeom>
            <a:avLst/>
            <a:gdLst/>
            <a:ahLst/>
            <a:cxnLst/>
            <a:rect l="l" t="t" r="r" b="b"/>
            <a:pathLst>
              <a:path w="2144708" h="963914">
                <a:moveTo>
                  <a:pt x="0" y="0"/>
                </a:moveTo>
                <a:lnTo>
                  <a:pt x="2144708" y="0"/>
                </a:lnTo>
                <a:lnTo>
                  <a:pt x="2144708" y="963914"/>
                </a:lnTo>
                <a:lnTo>
                  <a:pt x="0" y="963914"/>
                </a:lnTo>
                <a:lnTo>
                  <a:pt x="0" y="0"/>
                </a:lnTo>
                <a:close/>
              </a:path>
            </a:pathLst>
          </a:custGeom>
          <a:blipFill>
            <a:blip r:embed="rId6"/>
            <a:stretch>
              <a:fillRect l="-77331" t="-79270" r="-71395" b="-132027"/>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rot="2700000">
            <a:off x="-6585263" y="-4320101"/>
            <a:ext cx="11586526" cy="8026303"/>
          </a:xfrm>
          <a:custGeom>
            <a:avLst/>
            <a:gdLst/>
            <a:ahLst/>
            <a:cxnLst/>
            <a:rect l="l" t="t" r="r" b="b"/>
            <a:pathLst>
              <a:path w="11586526" h="8026303">
                <a:moveTo>
                  <a:pt x="0" y="0"/>
                </a:moveTo>
                <a:lnTo>
                  <a:pt x="11586527" y="0"/>
                </a:lnTo>
                <a:lnTo>
                  <a:pt x="11586527" y="8026303"/>
                </a:lnTo>
                <a:lnTo>
                  <a:pt x="0" y="8026303"/>
                </a:lnTo>
                <a:lnTo>
                  <a:pt x="0" y="0"/>
                </a:lnTo>
                <a:close/>
              </a:path>
            </a:pathLst>
          </a:custGeom>
          <a:blipFill>
            <a:blip r:embed="rId3">
              <a:alphaModFix amt="31999"/>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5400000">
            <a:off x="3700010" y="-4006960"/>
            <a:ext cx="613900" cy="8013919"/>
            <a:chOff x="0" y="0"/>
            <a:chExt cx="126317" cy="1648955"/>
          </a:xfrm>
        </p:grpSpPr>
        <p:sp>
          <p:nvSpPr>
            <p:cNvPr id="5" name="Freeform 5"/>
            <p:cNvSpPr/>
            <p:nvPr/>
          </p:nvSpPr>
          <p:spPr>
            <a:xfrm>
              <a:off x="0" y="0"/>
              <a:ext cx="126317" cy="1648955"/>
            </a:xfrm>
            <a:custGeom>
              <a:avLst/>
              <a:gdLst/>
              <a:ahLst/>
              <a:cxnLst/>
              <a:rect l="l" t="t" r="r" b="b"/>
              <a:pathLst>
                <a:path w="126317" h="1648955">
                  <a:moveTo>
                    <a:pt x="0" y="0"/>
                  </a:moveTo>
                  <a:lnTo>
                    <a:pt x="126317" y="0"/>
                  </a:lnTo>
                  <a:lnTo>
                    <a:pt x="126317" y="1648955"/>
                  </a:lnTo>
                  <a:lnTo>
                    <a:pt x="0" y="1648955"/>
                  </a:lnTo>
                  <a:close/>
                </a:path>
              </a:pathLst>
            </a:custGeom>
            <a:solidFill>
              <a:srgbClr val="6A7D60"/>
            </a:solidFill>
          </p:spPr>
        </p:sp>
        <p:sp>
          <p:nvSpPr>
            <p:cNvPr id="6" name="TextBox 6"/>
            <p:cNvSpPr txBox="1"/>
            <p:nvPr/>
          </p:nvSpPr>
          <p:spPr>
            <a:xfrm>
              <a:off x="0" y="-38100"/>
              <a:ext cx="126317" cy="16870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rot="-5400000">
            <a:off x="8837050" y="836050"/>
            <a:ext cx="613900" cy="18288000"/>
            <a:chOff x="0" y="0"/>
            <a:chExt cx="126317" cy="3762963"/>
          </a:xfrm>
        </p:grpSpPr>
        <p:sp>
          <p:nvSpPr>
            <p:cNvPr id="8" name="Freeform 8"/>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9" name="TextBox 9"/>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rot="-5400000">
            <a:off x="9516413" y="1515413"/>
            <a:ext cx="8229600" cy="7256174"/>
            <a:chOff x="0" y="0"/>
            <a:chExt cx="1693333" cy="1493040"/>
          </a:xfrm>
        </p:grpSpPr>
        <p:sp>
          <p:nvSpPr>
            <p:cNvPr id="11" name="Freeform 11"/>
            <p:cNvSpPr/>
            <p:nvPr/>
          </p:nvSpPr>
          <p:spPr>
            <a:xfrm>
              <a:off x="0" y="0"/>
              <a:ext cx="1693333" cy="1493040"/>
            </a:xfrm>
            <a:custGeom>
              <a:avLst/>
              <a:gdLst/>
              <a:ahLst/>
              <a:cxnLst/>
              <a:rect l="l" t="t" r="r" b="b"/>
              <a:pathLst>
                <a:path w="1693333" h="1493040">
                  <a:moveTo>
                    <a:pt x="0" y="0"/>
                  </a:moveTo>
                  <a:lnTo>
                    <a:pt x="1693333" y="0"/>
                  </a:lnTo>
                  <a:lnTo>
                    <a:pt x="1693333" y="1493040"/>
                  </a:lnTo>
                  <a:lnTo>
                    <a:pt x="0" y="1493040"/>
                  </a:lnTo>
                  <a:close/>
                </a:path>
              </a:pathLst>
            </a:custGeom>
            <a:ln w="38100" cap="sq">
              <a:solidFill>
                <a:srgbClr val="000000"/>
              </a:solidFill>
              <a:prstDash val="solid"/>
              <a:miter/>
            </a:ln>
          </p:spPr>
        </p:sp>
        <p:sp>
          <p:nvSpPr>
            <p:cNvPr id="12" name="TextBox 12"/>
            <p:cNvSpPr txBox="1"/>
            <p:nvPr/>
          </p:nvSpPr>
          <p:spPr>
            <a:xfrm>
              <a:off x="0" y="-38100"/>
              <a:ext cx="1693333" cy="153114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028700" y="4767280"/>
            <a:ext cx="8266117" cy="4483137"/>
            <a:chOff x="0" y="0"/>
            <a:chExt cx="1143245" cy="620040"/>
          </a:xfrm>
        </p:grpSpPr>
        <p:sp>
          <p:nvSpPr>
            <p:cNvPr id="14" name="Freeform 14"/>
            <p:cNvSpPr/>
            <p:nvPr/>
          </p:nvSpPr>
          <p:spPr>
            <a:xfrm>
              <a:off x="0" y="0"/>
              <a:ext cx="1143245" cy="620040"/>
            </a:xfrm>
            <a:custGeom>
              <a:avLst/>
              <a:gdLst/>
              <a:ahLst/>
              <a:cxnLst/>
              <a:rect l="l" t="t" r="r" b="b"/>
              <a:pathLst>
                <a:path w="1143245" h="620040">
                  <a:moveTo>
                    <a:pt x="0" y="0"/>
                  </a:moveTo>
                  <a:lnTo>
                    <a:pt x="1143245" y="0"/>
                  </a:lnTo>
                  <a:lnTo>
                    <a:pt x="1143245" y="620040"/>
                  </a:lnTo>
                  <a:lnTo>
                    <a:pt x="0" y="620040"/>
                  </a:lnTo>
                  <a:close/>
                </a:path>
              </a:pathLst>
            </a:custGeom>
            <a:blipFill>
              <a:blip r:embed="rId5"/>
              <a:stretch>
                <a:fillRect t="-589" b="-589"/>
              </a:stretch>
            </a:blipFill>
          </p:spPr>
        </p:sp>
      </p:grpSp>
      <p:sp>
        <p:nvSpPr>
          <p:cNvPr id="15" name="TextBox 15"/>
          <p:cNvSpPr txBox="1"/>
          <p:nvPr/>
        </p:nvSpPr>
        <p:spPr>
          <a:xfrm>
            <a:off x="1028700" y="821092"/>
            <a:ext cx="8692362" cy="3067666"/>
          </a:xfrm>
          <a:prstGeom prst="rect">
            <a:avLst/>
          </a:prstGeom>
        </p:spPr>
        <p:txBody>
          <a:bodyPr lIns="0" tIns="0" rIns="0" bIns="0" rtlCol="0" anchor="t">
            <a:spAutoFit/>
          </a:bodyPr>
          <a:lstStyle/>
          <a:p>
            <a:pPr marL="0" lvl="0" indent="0" algn="l">
              <a:lnSpc>
                <a:spcPts val="12101"/>
              </a:lnSpc>
            </a:pPr>
            <a:r>
              <a:rPr lang="en-US" sz="9838" spc="511" dirty="0">
                <a:solidFill>
                  <a:srgbClr val="0F2E00"/>
                </a:solidFill>
                <a:latin typeface="Anton"/>
                <a:ea typeface="Anton"/>
                <a:cs typeface="Anton"/>
                <a:sym typeface="Anton"/>
              </a:rPr>
              <a:t>Background</a:t>
            </a:r>
          </a:p>
          <a:p>
            <a:pPr marL="0" lvl="0" indent="0" algn="l">
              <a:lnSpc>
                <a:spcPts val="12101"/>
              </a:lnSpc>
            </a:pPr>
            <a:r>
              <a:rPr lang="en-US" sz="9838" spc="511" dirty="0">
                <a:solidFill>
                  <a:srgbClr val="0F2E00"/>
                </a:solidFill>
                <a:latin typeface="Anton"/>
                <a:ea typeface="Anton"/>
                <a:cs typeface="Anton"/>
                <a:sym typeface="Anton"/>
              </a:rPr>
              <a:t>&amp; Problem</a:t>
            </a:r>
          </a:p>
        </p:txBody>
      </p:sp>
      <p:sp>
        <p:nvSpPr>
          <p:cNvPr id="16" name="TextBox 16"/>
          <p:cNvSpPr txBox="1"/>
          <p:nvPr/>
        </p:nvSpPr>
        <p:spPr>
          <a:xfrm>
            <a:off x="10246670" y="1640409"/>
            <a:ext cx="6769087" cy="7164964"/>
          </a:xfrm>
          <a:prstGeom prst="rect">
            <a:avLst/>
          </a:prstGeom>
        </p:spPr>
        <p:txBody>
          <a:bodyPr lIns="0" tIns="0" rIns="0" bIns="0" rtlCol="0" anchor="t">
            <a:spAutoFit/>
          </a:bodyPr>
          <a:lstStyle/>
          <a:p>
            <a:pPr marL="0" lvl="0" indent="0" algn="l">
              <a:lnSpc>
                <a:spcPts val="4724"/>
              </a:lnSpc>
            </a:pPr>
            <a:r>
              <a:rPr lang="en-US" sz="3374" b="1" dirty="0">
                <a:solidFill>
                  <a:srgbClr val="000000"/>
                </a:solidFill>
                <a:latin typeface="DM Sans Bold"/>
                <a:ea typeface="DM Sans Bold"/>
                <a:cs typeface="DM Sans Bold"/>
                <a:sym typeface="DM Sans Bold"/>
              </a:rPr>
              <a:t>Nigerian women scientists and science educators face a compounded disadvantage at the intersection of gender and geographic under-representation on Wikipedia.</a:t>
            </a:r>
          </a:p>
          <a:p>
            <a:pPr marL="0" lvl="0" indent="0" algn="l">
              <a:lnSpc>
                <a:spcPts val="4724"/>
              </a:lnSpc>
            </a:pPr>
            <a:endParaRPr lang="en-US" sz="3374" b="1" dirty="0">
              <a:solidFill>
                <a:srgbClr val="000000"/>
              </a:solidFill>
              <a:latin typeface="DM Sans Bold"/>
              <a:ea typeface="DM Sans Bold"/>
              <a:cs typeface="DM Sans Bold"/>
              <a:sym typeface="DM Sans Bold"/>
            </a:endParaRPr>
          </a:p>
          <a:p>
            <a:pPr marL="0" lvl="0" indent="0" algn="l">
              <a:lnSpc>
                <a:spcPts val="4724"/>
              </a:lnSpc>
            </a:pPr>
            <a:r>
              <a:rPr lang="en-US" sz="3374" b="1" dirty="0">
                <a:solidFill>
                  <a:srgbClr val="000000"/>
                </a:solidFill>
                <a:latin typeface="DM Sans Bold"/>
                <a:ea typeface="DM Sans Bold"/>
                <a:cs typeface="DM Sans Bold"/>
                <a:sym typeface="DM Sans Bold"/>
              </a:rPr>
              <a:t>No existing study examines this critical intersection, leaving a significant gap in the digital knowledge equity literature.</a:t>
            </a:r>
          </a:p>
          <a:p>
            <a:pPr marL="0" lvl="0" indent="0" algn="l">
              <a:lnSpc>
                <a:spcPts val="5537"/>
              </a:lnSpc>
            </a:pPr>
            <a:endParaRPr lang="en-US" sz="3374" b="1" dirty="0">
              <a:solidFill>
                <a:srgbClr val="000000"/>
              </a:solidFill>
              <a:latin typeface="DM Sans Bold"/>
              <a:ea typeface="DM Sans Bold"/>
              <a:cs typeface="DM Sans Bold"/>
              <a:sym typeface="DM Sans Bold"/>
            </a:endParaRPr>
          </a:p>
        </p:txBody>
      </p:sp>
      <p:sp>
        <p:nvSpPr>
          <p:cNvPr id="17" name="Freeform 17"/>
          <p:cNvSpPr/>
          <p:nvPr/>
        </p:nvSpPr>
        <p:spPr>
          <a:xfrm>
            <a:off x="7858418" y="0"/>
            <a:ext cx="2144708" cy="963914"/>
          </a:xfrm>
          <a:custGeom>
            <a:avLst/>
            <a:gdLst/>
            <a:ahLst/>
            <a:cxnLst/>
            <a:rect l="l" t="t" r="r" b="b"/>
            <a:pathLst>
              <a:path w="2144708" h="963914">
                <a:moveTo>
                  <a:pt x="0" y="0"/>
                </a:moveTo>
                <a:lnTo>
                  <a:pt x="2144708" y="0"/>
                </a:lnTo>
                <a:lnTo>
                  <a:pt x="2144708" y="963914"/>
                </a:lnTo>
                <a:lnTo>
                  <a:pt x="0" y="963914"/>
                </a:lnTo>
                <a:lnTo>
                  <a:pt x="0" y="0"/>
                </a:lnTo>
                <a:close/>
              </a:path>
            </a:pathLst>
          </a:custGeom>
          <a:blipFill>
            <a:blip r:embed="rId6"/>
            <a:stretch>
              <a:fillRect l="-77331" t="-79270" r="-71395" b="-132027"/>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rot="-5400000">
            <a:off x="3700010" y="-4006960"/>
            <a:ext cx="613900" cy="8013919"/>
            <a:chOff x="0" y="0"/>
            <a:chExt cx="126317" cy="1648955"/>
          </a:xfrm>
        </p:grpSpPr>
        <p:sp>
          <p:nvSpPr>
            <p:cNvPr id="4" name="Freeform 4"/>
            <p:cNvSpPr/>
            <p:nvPr/>
          </p:nvSpPr>
          <p:spPr>
            <a:xfrm>
              <a:off x="0" y="0"/>
              <a:ext cx="126317" cy="1648955"/>
            </a:xfrm>
            <a:custGeom>
              <a:avLst/>
              <a:gdLst/>
              <a:ahLst/>
              <a:cxnLst/>
              <a:rect l="l" t="t" r="r" b="b"/>
              <a:pathLst>
                <a:path w="126317" h="1648955">
                  <a:moveTo>
                    <a:pt x="0" y="0"/>
                  </a:moveTo>
                  <a:lnTo>
                    <a:pt x="126317" y="0"/>
                  </a:lnTo>
                  <a:lnTo>
                    <a:pt x="126317" y="1648955"/>
                  </a:lnTo>
                  <a:lnTo>
                    <a:pt x="0" y="1648955"/>
                  </a:lnTo>
                  <a:close/>
                </a:path>
              </a:pathLst>
            </a:custGeom>
            <a:solidFill>
              <a:srgbClr val="6A7D60"/>
            </a:solidFill>
          </p:spPr>
        </p:sp>
        <p:sp>
          <p:nvSpPr>
            <p:cNvPr id="5" name="TextBox 5"/>
            <p:cNvSpPr txBox="1"/>
            <p:nvPr/>
          </p:nvSpPr>
          <p:spPr>
            <a:xfrm>
              <a:off x="0" y="-38100"/>
              <a:ext cx="126317" cy="16870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rot="-5400000">
            <a:off x="8837050" y="836050"/>
            <a:ext cx="613900" cy="18288000"/>
            <a:chOff x="0" y="0"/>
            <a:chExt cx="126317" cy="3762963"/>
          </a:xfrm>
        </p:grpSpPr>
        <p:sp>
          <p:nvSpPr>
            <p:cNvPr id="7" name="Freeform 7"/>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8" name="TextBox 8"/>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9" name="Freeform 9"/>
          <p:cNvSpPr/>
          <p:nvPr/>
        </p:nvSpPr>
        <p:spPr>
          <a:xfrm>
            <a:off x="12154445" y="-730064"/>
            <a:ext cx="8614515" cy="7142216"/>
          </a:xfrm>
          <a:custGeom>
            <a:avLst/>
            <a:gdLst/>
            <a:ahLst/>
            <a:cxnLst/>
            <a:rect l="l" t="t" r="r" b="b"/>
            <a:pathLst>
              <a:path w="8614515" h="7142216">
                <a:moveTo>
                  <a:pt x="0" y="0"/>
                </a:moveTo>
                <a:lnTo>
                  <a:pt x="8614515" y="0"/>
                </a:lnTo>
                <a:lnTo>
                  <a:pt x="8614515" y="7142216"/>
                </a:lnTo>
                <a:lnTo>
                  <a:pt x="0" y="714221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0" name="Group 10"/>
          <p:cNvGrpSpPr/>
          <p:nvPr/>
        </p:nvGrpSpPr>
        <p:grpSpPr>
          <a:xfrm rot="-5400000">
            <a:off x="1473223" y="4901153"/>
            <a:ext cx="4161605" cy="4646299"/>
            <a:chOff x="0" y="0"/>
            <a:chExt cx="856297" cy="956029"/>
          </a:xfrm>
        </p:grpSpPr>
        <p:sp>
          <p:nvSpPr>
            <p:cNvPr id="11" name="Freeform 11"/>
            <p:cNvSpPr/>
            <p:nvPr/>
          </p:nvSpPr>
          <p:spPr>
            <a:xfrm>
              <a:off x="0" y="0"/>
              <a:ext cx="856297" cy="956029"/>
            </a:xfrm>
            <a:custGeom>
              <a:avLst/>
              <a:gdLst/>
              <a:ahLst/>
              <a:cxnLst/>
              <a:rect l="l" t="t" r="r" b="b"/>
              <a:pathLst>
                <a:path w="856297" h="956029">
                  <a:moveTo>
                    <a:pt x="39241" y="0"/>
                  </a:moveTo>
                  <a:lnTo>
                    <a:pt x="817056" y="0"/>
                  </a:lnTo>
                  <a:cubicBezTo>
                    <a:pt x="838728" y="0"/>
                    <a:pt x="856297" y="17569"/>
                    <a:pt x="856297" y="39241"/>
                  </a:cubicBezTo>
                  <a:lnTo>
                    <a:pt x="856297" y="916787"/>
                  </a:lnTo>
                  <a:cubicBezTo>
                    <a:pt x="856297" y="938460"/>
                    <a:pt x="838728" y="956029"/>
                    <a:pt x="817056" y="956029"/>
                  </a:cubicBezTo>
                  <a:lnTo>
                    <a:pt x="39241" y="956029"/>
                  </a:lnTo>
                  <a:cubicBezTo>
                    <a:pt x="17569" y="956029"/>
                    <a:pt x="0" y="938460"/>
                    <a:pt x="0" y="916787"/>
                  </a:cubicBezTo>
                  <a:lnTo>
                    <a:pt x="0" y="39241"/>
                  </a:lnTo>
                  <a:cubicBezTo>
                    <a:pt x="0" y="17569"/>
                    <a:pt x="17569" y="0"/>
                    <a:pt x="39241" y="0"/>
                  </a:cubicBezTo>
                  <a:close/>
                </a:path>
              </a:pathLst>
            </a:custGeom>
            <a:solidFill>
              <a:srgbClr val="78896F"/>
            </a:solidFill>
            <a:ln w="38100" cap="rnd">
              <a:solidFill>
                <a:srgbClr val="000000"/>
              </a:solidFill>
              <a:prstDash val="solid"/>
              <a:round/>
            </a:ln>
          </p:spPr>
        </p:sp>
        <p:sp>
          <p:nvSpPr>
            <p:cNvPr id="12" name="TextBox 12"/>
            <p:cNvSpPr txBox="1"/>
            <p:nvPr/>
          </p:nvSpPr>
          <p:spPr>
            <a:xfrm>
              <a:off x="0" y="-38100"/>
              <a:ext cx="856297" cy="9941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rot="-5400000">
            <a:off x="2384986" y="3820985"/>
            <a:ext cx="2338079" cy="2338079"/>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2F2"/>
            </a:solidFill>
            <a:ln w="38100" cap="sq">
              <a:solidFill>
                <a:srgbClr val="000000"/>
              </a:solidFill>
              <a:prstDash val="solid"/>
              <a:miter/>
            </a:ln>
          </p:spPr>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6" name="Freeform 16"/>
          <p:cNvSpPr/>
          <p:nvPr/>
        </p:nvSpPr>
        <p:spPr>
          <a:xfrm>
            <a:off x="2745415" y="4054175"/>
            <a:ext cx="1779931" cy="1825992"/>
          </a:xfrm>
          <a:custGeom>
            <a:avLst/>
            <a:gdLst/>
            <a:ahLst/>
            <a:cxnLst/>
            <a:rect l="l" t="t" r="r" b="b"/>
            <a:pathLst>
              <a:path w="1779931" h="1825992">
                <a:moveTo>
                  <a:pt x="0" y="0"/>
                </a:moveTo>
                <a:lnTo>
                  <a:pt x="1779931" y="0"/>
                </a:lnTo>
                <a:lnTo>
                  <a:pt x="1779931" y="1825992"/>
                </a:lnTo>
                <a:lnTo>
                  <a:pt x="0" y="1825992"/>
                </a:lnTo>
                <a:lnTo>
                  <a:pt x="0" y="0"/>
                </a:lnTo>
                <a:close/>
              </a:path>
            </a:pathLst>
          </a:custGeom>
          <a:blipFill>
            <a:blip r:embed="rId5"/>
            <a:stretch>
              <a:fillRect/>
            </a:stretch>
          </a:blipFill>
        </p:spPr>
      </p:sp>
      <p:grpSp>
        <p:nvGrpSpPr>
          <p:cNvPr id="17" name="Group 17"/>
          <p:cNvGrpSpPr/>
          <p:nvPr/>
        </p:nvGrpSpPr>
        <p:grpSpPr>
          <a:xfrm rot="-5400000">
            <a:off x="6471220" y="4977736"/>
            <a:ext cx="4161605" cy="4646299"/>
            <a:chOff x="0" y="0"/>
            <a:chExt cx="856297" cy="956029"/>
          </a:xfrm>
        </p:grpSpPr>
        <p:sp>
          <p:nvSpPr>
            <p:cNvPr id="18" name="Freeform 18"/>
            <p:cNvSpPr/>
            <p:nvPr/>
          </p:nvSpPr>
          <p:spPr>
            <a:xfrm>
              <a:off x="0" y="0"/>
              <a:ext cx="856297" cy="956029"/>
            </a:xfrm>
            <a:custGeom>
              <a:avLst/>
              <a:gdLst/>
              <a:ahLst/>
              <a:cxnLst/>
              <a:rect l="l" t="t" r="r" b="b"/>
              <a:pathLst>
                <a:path w="856297" h="956029">
                  <a:moveTo>
                    <a:pt x="39241" y="0"/>
                  </a:moveTo>
                  <a:lnTo>
                    <a:pt x="817056" y="0"/>
                  </a:lnTo>
                  <a:cubicBezTo>
                    <a:pt x="838728" y="0"/>
                    <a:pt x="856297" y="17569"/>
                    <a:pt x="856297" y="39241"/>
                  </a:cubicBezTo>
                  <a:lnTo>
                    <a:pt x="856297" y="916787"/>
                  </a:lnTo>
                  <a:cubicBezTo>
                    <a:pt x="856297" y="938460"/>
                    <a:pt x="838728" y="956029"/>
                    <a:pt x="817056" y="956029"/>
                  </a:cubicBezTo>
                  <a:lnTo>
                    <a:pt x="39241" y="956029"/>
                  </a:lnTo>
                  <a:cubicBezTo>
                    <a:pt x="17569" y="956029"/>
                    <a:pt x="0" y="938460"/>
                    <a:pt x="0" y="916787"/>
                  </a:cubicBezTo>
                  <a:lnTo>
                    <a:pt x="0" y="39241"/>
                  </a:lnTo>
                  <a:cubicBezTo>
                    <a:pt x="0" y="17569"/>
                    <a:pt x="17569" y="0"/>
                    <a:pt x="39241" y="0"/>
                  </a:cubicBezTo>
                  <a:close/>
                </a:path>
              </a:pathLst>
            </a:custGeom>
            <a:solidFill>
              <a:srgbClr val="78896F"/>
            </a:solidFill>
            <a:ln w="38100" cap="rnd">
              <a:solidFill>
                <a:srgbClr val="000000"/>
              </a:solidFill>
              <a:prstDash val="solid"/>
              <a:round/>
            </a:ln>
          </p:spPr>
        </p:sp>
        <p:sp>
          <p:nvSpPr>
            <p:cNvPr id="19" name="TextBox 19"/>
            <p:cNvSpPr txBox="1"/>
            <p:nvPr/>
          </p:nvSpPr>
          <p:spPr>
            <a:xfrm>
              <a:off x="0" y="-38100"/>
              <a:ext cx="856297" cy="9941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0" name="Group 20"/>
          <p:cNvGrpSpPr/>
          <p:nvPr/>
        </p:nvGrpSpPr>
        <p:grpSpPr>
          <a:xfrm rot="-5400000">
            <a:off x="7382983" y="3897569"/>
            <a:ext cx="2338079" cy="233807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2F2"/>
            </a:solidFill>
            <a:ln w="38100" cap="sq">
              <a:solidFill>
                <a:srgbClr val="000000"/>
              </a:solidFill>
              <a:prstDash val="solid"/>
              <a:miter/>
            </a:ln>
          </p:spPr>
        </p:sp>
        <p:sp>
          <p:nvSpPr>
            <p:cNvPr id="22" name="TextBox 2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3" name="Group 23"/>
          <p:cNvGrpSpPr/>
          <p:nvPr/>
        </p:nvGrpSpPr>
        <p:grpSpPr>
          <a:xfrm rot="-5400000">
            <a:off x="11469216" y="4901153"/>
            <a:ext cx="4161605" cy="4646299"/>
            <a:chOff x="0" y="0"/>
            <a:chExt cx="856297" cy="956029"/>
          </a:xfrm>
        </p:grpSpPr>
        <p:sp>
          <p:nvSpPr>
            <p:cNvPr id="24" name="Freeform 24"/>
            <p:cNvSpPr/>
            <p:nvPr/>
          </p:nvSpPr>
          <p:spPr>
            <a:xfrm>
              <a:off x="0" y="0"/>
              <a:ext cx="856297" cy="956029"/>
            </a:xfrm>
            <a:custGeom>
              <a:avLst/>
              <a:gdLst/>
              <a:ahLst/>
              <a:cxnLst/>
              <a:rect l="l" t="t" r="r" b="b"/>
              <a:pathLst>
                <a:path w="856297" h="956029">
                  <a:moveTo>
                    <a:pt x="39241" y="0"/>
                  </a:moveTo>
                  <a:lnTo>
                    <a:pt x="817056" y="0"/>
                  </a:lnTo>
                  <a:cubicBezTo>
                    <a:pt x="838728" y="0"/>
                    <a:pt x="856297" y="17569"/>
                    <a:pt x="856297" y="39241"/>
                  </a:cubicBezTo>
                  <a:lnTo>
                    <a:pt x="856297" y="916787"/>
                  </a:lnTo>
                  <a:cubicBezTo>
                    <a:pt x="856297" y="938460"/>
                    <a:pt x="838728" y="956029"/>
                    <a:pt x="817056" y="956029"/>
                  </a:cubicBezTo>
                  <a:lnTo>
                    <a:pt x="39241" y="956029"/>
                  </a:lnTo>
                  <a:cubicBezTo>
                    <a:pt x="17569" y="956029"/>
                    <a:pt x="0" y="938460"/>
                    <a:pt x="0" y="916787"/>
                  </a:cubicBezTo>
                  <a:lnTo>
                    <a:pt x="0" y="39241"/>
                  </a:lnTo>
                  <a:cubicBezTo>
                    <a:pt x="0" y="17569"/>
                    <a:pt x="17569" y="0"/>
                    <a:pt x="39241" y="0"/>
                  </a:cubicBezTo>
                  <a:close/>
                </a:path>
              </a:pathLst>
            </a:custGeom>
            <a:solidFill>
              <a:srgbClr val="78896F"/>
            </a:solidFill>
            <a:ln w="38100" cap="rnd">
              <a:solidFill>
                <a:srgbClr val="000000"/>
              </a:solidFill>
              <a:prstDash val="solid"/>
              <a:round/>
            </a:ln>
          </p:spPr>
        </p:sp>
        <p:sp>
          <p:nvSpPr>
            <p:cNvPr id="25" name="TextBox 25"/>
            <p:cNvSpPr txBox="1"/>
            <p:nvPr/>
          </p:nvSpPr>
          <p:spPr>
            <a:xfrm>
              <a:off x="0" y="-38100"/>
              <a:ext cx="856297" cy="994129"/>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6" name="Group 26"/>
          <p:cNvGrpSpPr/>
          <p:nvPr/>
        </p:nvGrpSpPr>
        <p:grpSpPr>
          <a:xfrm rot="-5400000">
            <a:off x="12380979" y="3820985"/>
            <a:ext cx="2338079" cy="233807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1F2F2"/>
            </a:solidFill>
            <a:ln w="38100" cap="sq">
              <a:solidFill>
                <a:srgbClr val="000000"/>
              </a:solidFill>
              <a:prstDash val="solid"/>
              <a:miter/>
            </a:ln>
          </p:spPr>
        </p:sp>
        <p:sp>
          <p:nvSpPr>
            <p:cNvPr id="28" name="TextBox 2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9" name="Freeform 29"/>
          <p:cNvSpPr/>
          <p:nvPr/>
        </p:nvSpPr>
        <p:spPr>
          <a:xfrm>
            <a:off x="7570666" y="4075902"/>
            <a:ext cx="1870932" cy="1772669"/>
          </a:xfrm>
          <a:custGeom>
            <a:avLst/>
            <a:gdLst/>
            <a:ahLst/>
            <a:cxnLst/>
            <a:rect l="l" t="t" r="r" b="b"/>
            <a:pathLst>
              <a:path w="1870932" h="1772669">
                <a:moveTo>
                  <a:pt x="0" y="0"/>
                </a:moveTo>
                <a:lnTo>
                  <a:pt x="1870932" y="0"/>
                </a:lnTo>
                <a:lnTo>
                  <a:pt x="1870932" y="1772669"/>
                </a:lnTo>
                <a:lnTo>
                  <a:pt x="0" y="1772669"/>
                </a:lnTo>
                <a:lnTo>
                  <a:pt x="0" y="0"/>
                </a:lnTo>
                <a:close/>
              </a:path>
            </a:pathLst>
          </a:custGeom>
          <a:blipFill>
            <a:blip r:embed="rId6"/>
            <a:stretch>
              <a:fillRect/>
            </a:stretch>
          </a:blipFill>
        </p:spPr>
      </p:sp>
      <p:sp>
        <p:nvSpPr>
          <p:cNvPr id="30" name="Freeform 30"/>
          <p:cNvSpPr/>
          <p:nvPr/>
        </p:nvSpPr>
        <p:spPr>
          <a:xfrm>
            <a:off x="12796887" y="4350039"/>
            <a:ext cx="1507681" cy="1367368"/>
          </a:xfrm>
          <a:custGeom>
            <a:avLst/>
            <a:gdLst/>
            <a:ahLst/>
            <a:cxnLst/>
            <a:rect l="l" t="t" r="r" b="b"/>
            <a:pathLst>
              <a:path w="1507681" h="1367368">
                <a:moveTo>
                  <a:pt x="0" y="0"/>
                </a:moveTo>
                <a:lnTo>
                  <a:pt x="1507681" y="0"/>
                </a:lnTo>
                <a:lnTo>
                  <a:pt x="1507681" y="1367368"/>
                </a:lnTo>
                <a:lnTo>
                  <a:pt x="0" y="1367368"/>
                </a:lnTo>
                <a:lnTo>
                  <a:pt x="0" y="0"/>
                </a:lnTo>
                <a:close/>
              </a:path>
            </a:pathLst>
          </a:custGeom>
          <a:blipFill>
            <a:blip r:embed="rId7"/>
            <a:stretch>
              <a:fillRect/>
            </a:stretch>
          </a:blipFill>
        </p:spPr>
      </p:sp>
      <p:sp>
        <p:nvSpPr>
          <p:cNvPr id="31" name="TextBox 31"/>
          <p:cNvSpPr txBox="1"/>
          <p:nvPr/>
        </p:nvSpPr>
        <p:spPr>
          <a:xfrm>
            <a:off x="1139310" y="1009650"/>
            <a:ext cx="12410709" cy="1422126"/>
          </a:xfrm>
          <a:prstGeom prst="rect">
            <a:avLst/>
          </a:prstGeom>
        </p:spPr>
        <p:txBody>
          <a:bodyPr lIns="0" tIns="0" rIns="0" bIns="0" rtlCol="0" anchor="t">
            <a:spAutoFit/>
          </a:bodyPr>
          <a:lstStyle/>
          <a:p>
            <a:pPr marL="0" lvl="0" indent="0" algn="l">
              <a:lnSpc>
                <a:spcPts val="11363"/>
              </a:lnSpc>
            </a:pPr>
            <a:r>
              <a:rPr lang="en-US" sz="9238" spc="480">
                <a:solidFill>
                  <a:srgbClr val="0F2E00"/>
                </a:solidFill>
                <a:latin typeface="Anton"/>
                <a:ea typeface="Anton"/>
                <a:cs typeface="Anton"/>
                <a:sym typeface="Anton"/>
              </a:rPr>
              <a:t>Aim &amp; Objectives</a:t>
            </a:r>
          </a:p>
        </p:txBody>
      </p:sp>
      <p:sp>
        <p:nvSpPr>
          <p:cNvPr id="32" name="TextBox 32"/>
          <p:cNvSpPr txBox="1"/>
          <p:nvPr/>
        </p:nvSpPr>
        <p:spPr>
          <a:xfrm>
            <a:off x="853654" y="2472880"/>
            <a:ext cx="17175889" cy="976630"/>
          </a:xfrm>
          <a:prstGeom prst="rect">
            <a:avLst/>
          </a:prstGeom>
        </p:spPr>
        <p:txBody>
          <a:bodyPr lIns="0" tIns="0" rIns="0" bIns="0" rtlCol="0" anchor="t">
            <a:spAutoFit/>
          </a:bodyPr>
          <a:lstStyle/>
          <a:p>
            <a:pPr marL="0" lvl="0" indent="0" algn="ctr">
              <a:lnSpc>
                <a:spcPts val="3919"/>
              </a:lnSpc>
              <a:spcBef>
                <a:spcPct val="0"/>
              </a:spcBef>
            </a:pPr>
            <a:r>
              <a:rPr lang="en-US" sz="2799" b="1">
                <a:solidFill>
                  <a:srgbClr val="000000"/>
                </a:solidFill>
                <a:latin typeface="DM Sans Bold"/>
                <a:ea typeface="DM Sans Bold"/>
                <a:cs typeface="DM Sans Bold"/>
                <a:sym typeface="DM Sans Bold"/>
              </a:rPr>
              <a:t>Overall Aim: To determine how Wikipedia representation of Nigerian scientists differs by gender and to develop actionable editing guidance that addresses identified disparities in digital visibility.</a:t>
            </a:r>
          </a:p>
        </p:txBody>
      </p:sp>
      <p:sp>
        <p:nvSpPr>
          <p:cNvPr id="33" name="TextBox 33"/>
          <p:cNvSpPr txBox="1"/>
          <p:nvPr/>
        </p:nvSpPr>
        <p:spPr>
          <a:xfrm>
            <a:off x="1429980" y="6179359"/>
            <a:ext cx="4248090" cy="2156460"/>
          </a:xfrm>
          <a:prstGeom prst="rect">
            <a:avLst/>
          </a:prstGeom>
        </p:spPr>
        <p:txBody>
          <a:bodyPr lIns="0" tIns="0" rIns="0" bIns="0" rtlCol="0" anchor="t">
            <a:spAutoFit/>
          </a:bodyPr>
          <a:lstStyle/>
          <a:p>
            <a:pPr marL="0" lvl="0" indent="0" algn="ctr">
              <a:lnSpc>
                <a:spcPts val="2400"/>
              </a:lnSpc>
            </a:pPr>
            <a:r>
              <a:rPr lang="en-US" sz="2400">
                <a:solidFill>
                  <a:srgbClr val="F1F2F2"/>
                </a:solidFill>
                <a:latin typeface="DM Sans"/>
                <a:ea typeface="DM Sans"/>
                <a:cs typeface="DM Sans"/>
                <a:sym typeface="DM Sans"/>
              </a:rPr>
              <a:t>Objective 1: Build a Wikipedia corpus of Nigerian women scientists and educators, benchmarked against an independent external roster (OpenAlex, ORCID, university directories).</a:t>
            </a:r>
          </a:p>
        </p:txBody>
      </p:sp>
      <p:sp>
        <p:nvSpPr>
          <p:cNvPr id="34" name="TextBox 34"/>
          <p:cNvSpPr txBox="1"/>
          <p:nvPr/>
        </p:nvSpPr>
        <p:spPr>
          <a:xfrm>
            <a:off x="6427977" y="6255942"/>
            <a:ext cx="4248090" cy="2156460"/>
          </a:xfrm>
          <a:prstGeom prst="rect">
            <a:avLst/>
          </a:prstGeom>
        </p:spPr>
        <p:txBody>
          <a:bodyPr lIns="0" tIns="0" rIns="0" bIns="0" rtlCol="0" anchor="t">
            <a:spAutoFit/>
          </a:bodyPr>
          <a:lstStyle/>
          <a:p>
            <a:pPr marL="0" lvl="0" indent="0" algn="ctr">
              <a:lnSpc>
                <a:spcPts val="2400"/>
              </a:lnSpc>
            </a:pPr>
            <a:r>
              <a:rPr lang="en-US" sz="2400">
                <a:solidFill>
                  <a:srgbClr val="F1F2F2"/>
                </a:solidFill>
                <a:latin typeface="DM Sans"/>
                <a:ea typeface="DM Sans"/>
                <a:cs typeface="DM Sans"/>
                <a:sym typeface="DM Sans"/>
              </a:rPr>
              <a:t>Objective 2: Analyze gender as a predictor for Wikipedia presence and article development, controlling for professional characteristics via logistic regression and matched comparison groups.</a:t>
            </a:r>
          </a:p>
        </p:txBody>
      </p:sp>
      <p:sp>
        <p:nvSpPr>
          <p:cNvPr id="35" name="TextBox 35"/>
          <p:cNvSpPr txBox="1"/>
          <p:nvPr/>
        </p:nvSpPr>
        <p:spPr>
          <a:xfrm>
            <a:off x="11425974" y="6179359"/>
            <a:ext cx="4248090" cy="2461260"/>
          </a:xfrm>
          <a:prstGeom prst="rect">
            <a:avLst/>
          </a:prstGeom>
        </p:spPr>
        <p:txBody>
          <a:bodyPr lIns="0" tIns="0" rIns="0" bIns="0" rtlCol="0" anchor="t">
            <a:spAutoFit/>
          </a:bodyPr>
          <a:lstStyle/>
          <a:p>
            <a:pPr marL="0" lvl="0" indent="0" algn="ctr">
              <a:lnSpc>
                <a:spcPts val="2400"/>
              </a:lnSpc>
            </a:pPr>
            <a:r>
              <a:rPr lang="en-US" sz="2400">
                <a:solidFill>
                  <a:srgbClr val="F1F2F2"/>
                </a:solidFill>
                <a:latin typeface="DM Sans"/>
                <a:ea typeface="DM Sans"/>
                <a:cs typeface="DM Sans"/>
                <a:sym typeface="DM Sans"/>
              </a:rPr>
              <a:t>Objective 3 &amp; 4: Apply corpus linguistic techniques (collocation, keyness) to identify framing differences by gender; translate findings into recommendations for Wikipedia editing initiatives targeting Nigerian women.</a:t>
            </a:r>
          </a:p>
        </p:txBody>
      </p:sp>
      <p:sp>
        <p:nvSpPr>
          <p:cNvPr id="36" name="Freeform 36"/>
          <p:cNvSpPr/>
          <p:nvPr/>
        </p:nvSpPr>
        <p:spPr>
          <a:xfrm>
            <a:off x="8013919" y="0"/>
            <a:ext cx="1989207" cy="894026"/>
          </a:xfrm>
          <a:custGeom>
            <a:avLst/>
            <a:gdLst/>
            <a:ahLst/>
            <a:cxnLst/>
            <a:rect l="l" t="t" r="r" b="b"/>
            <a:pathLst>
              <a:path w="1989207" h="894026">
                <a:moveTo>
                  <a:pt x="0" y="0"/>
                </a:moveTo>
                <a:lnTo>
                  <a:pt x="1989207" y="0"/>
                </a:lnTo>
                <a:lnTo>
                  <a:pt x="1989207" y="894026"/>
                </a:lnTo>
                <a:lnTo>
                  <a:pt x="0" y="894026"/>
                </a:lnTo>
                <a:lnTo>
                  <a:pt x="0" y="0"/>
                </a:lnTo>
                <a:close/>
              </a:path>
            </a:pathLst>
          </a:custGeom>
          <a:blipFill>
            <a:blip r:embed="rId8"/>
            <a:stretch>
              <a:fillRect l="-77331" t="-79270" r="-71395" b="-132027"/>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7882" y="-663696"/>
            <a:ext cx="4411958" cy="5229691"/>
          </a:xfrm>
          <a:custGeom>
            <a:avLst/>
            <a:gdLst/>
            <a:ahLst/>
            <a:cxnLst/>
            <a:rect l="l" t="t" r="r" b="b"/>
            <a:pathLst>
              <a:path w="4411958" h="5229691">
                <a:moveTo>
                  <a:pt x="0" y="0"/>
                </a:moveTo>
                <a:lnTo>
                  <a:pt x="4411957" y="0"/>
                </a:lnTo>
                <a:lnTo>
                  <a:pt x="4411957" y="5229691"/>
                </a:lnTo>
                <a:lnTo>
                  <a:pt x="0" y="522969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rot="-5400000">
            <a:off x="3700010" y="-4006960"/>
            <a:ext cx="613900" cy="8013919"/>
            <a:chOff x="0" y="0"/>
            <a:chExt cx="126317" cy="1648955"/>
          </a:xfrm>
        </p:grpSpPr>
        <p:sp>
          <p:nvSpPr>
            <p:cNvPr id="5" name="Freeform 5"/>
            <p:cNvSpPr/>
            <p:nvPr/>
          </p:nvSpPr>
          <p:spPr>
            <a:xfrm>
              <a:off x="0" y="0"/>
              <a:ext cx="126317" cy="1648955"/>
            </a:xfrm>
            <a:custGeom>
              <a:avLst/>
              <a:gdLst/>
              <a:ahLst/>
              <a:cxnLst/>
              <a:rect l="l" t="t" r="r" b="b"/>
              <a:pathLst>
                <a:path w="126317" h="1648955">
                  <a:moveTo>
                    <a:pt x="0" y="0"/>
                  </a:moveTo>
                  <a:lnTo>
                    <a:pt x="126317" y="0"/>
                  </a:lnTo>
                  <a:lnTo>
                    <a:pt x="126317" y="1648955"/>
                  </a:lnTo>
                  <a:lnTo>
                    <a:pt x="0" y="1648955"/>
                  </a:lnTo>
                  <a:close/>
                </a:path>
              </a:pathLst>
            </a:custGeom>
            <a:solidFill>
              <a:srgbClr val="6A7D60"/>
            </a:solidFill>
          </p:spPr>
        </p:sp>
        <p:sp>
          <p:nvSpPr>
            <p:cNvPr id="6" name="TextBox 6"/>
            <p:cNvSpPr txBox="1"/>
            <p:nvPr/>
          </p:nvSpPr>
          <p:spPr>
            <a:xfrm>
              <a:off x="0" y="-38100"/>
              <a:ext cx="126317" cy="168705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7" name="Group 7"/>
          <p:cNvGrpSpPr/>
          <p:nvPr/>
        </p:nvGrpSpPr>
        <p:grpSpPr>
          <a:xfrm rot="-5400000">
            <a:off x="8837050" y="836050"/>
            <a:ext cx="613900" cy="18288000"/>
            <a:chOff x="0" y="0"/>
            <a:chExt cx="126317" cy="3762963"/>
          </a:xfrm>
        </p:grpSpPr>
        <p:sp>
          <p:nvSpPr>
            <p:cNvPr id="8" name="Freeform 8"/>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9" name="TextBox 9"/>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a:off x="761795" y="3966509"/>
            <a:ext cx="7420259" cy="5062817"/>
            <a:chOff x="0" y="0"/>
            <a:chExt cx="1026259" cy="700213"/>
          </a:xfrm>
        </p:grpSpPr>
        <p:sp>
          <p:nvSpPr>
            <p:cNvPr id="11" name="Freeform 11"/>
            <p:cNvSpPr/>
            <p:nvPr/>
          </p:nvSpPr>
          <p:spPr>
            <a:xfrm>
              <a:off x="0" y="0"/>
              <a:ext cx="1026259" cy="700213"/>
            </a:xfrm>
            <a:custGeom>
              <a:avLst/>
              <a:gdLst/>
              <a:ahLst/>
              <a:cxnLst/>
              <a:rect l="l" t="t" r="r" b="b"/>
              <a:pathLst>
                <a:path w="1026259" h="700213">
                  <a:moveTo>
                    <a:pt x="0" y="0"/>
                  </a:moveTo>
                  <a:lnTo>
                    <a:pt x="1026259" y="0"/>
                  </a:lnTo>
                  <a:lnTo>
                    <a:pt x="1026259" y="700213"/>
                  </a:lnTo>
                  <a:lnTo>
                    <a:pt x="0" y="700213"/>
                  </a:lnTo>
                  <a:close/>
                </a:path>
              </a:pathLst>
            </a:custGeom>
            <a:blipFill>
              <a:blip r:embed="rId5"/>
              <a:stretch>
                <a:fillRect l="-76" r="-76"/>
              </a:stretch>
            </a:blipFill>
          </p:spPr>
        </p:sp>
      </p:grpSp>
      <p:sp>
        <p:nvSpPr>
          <p:cNvPr id="12" name="TextBox 12"/>
          <p:cNvSpPr txBox="1"/>
          <p:nvPr/>
        </p:nvSpPr>
        <p:spPr>
          <a:xfrm>
            <a:off x="761795" y="496095"/>
            <a:ext cx="7895945" cy="3067666"/>
          </a:xfrm>
          <a:prstGeom prst="rect">
            <a:avLst/>
          </a:prstGeom>
        </p:spPr>
        <p:txBody>
          <a:bodyPr lIns="0" tIns="0" rIns="0" bIns="0" rtlCol="0" anchor="t">
            <a:spAutoFit/>
          </a:bodyPr>
          <a:lstStyle/>
          <a:p>
            <a:pPr marL="0" lvl="0" indent="0" algn="l">
              <a:lnSpc>
                <a:spcPts val="12101"/>
              </a:lnSpc>
            </a:pPr>
            <a:r>
              <a:rPr lang="en-US" sz="9838" spc="511">
                <a:solidFill>
                  <a:srgbClr val="0F2E00"/>
                </a:solidFill>
                <a:latin typeface="Anton"/>
                <a:ea typeface="Anton"/>
                <a:cs typeface="Anton"/>
                <a:sym typeface="Anton"/>
              </a:rPr>
              <a:t>Research</a:t>
            </a:r>
          </a:p>
          <a:p>
            <a:pPr marL="0" lvl="0" indent="0" algn="l">
              <a:lnSpc>
                <a:spcPts val="12101"/>
              </a:lnSpc>
            </a:pPr>
            <a:r>
              <a:rPr lang="en-US" sz="9838" spc="511">
                <a:solidFill>
                  <a:srgbClr val="0F2E00"/>
                </a:solidFill>
                <a:latin typeface="Anton"/>
                <a:ea typeface="Anton"/>
                <a:cs typeface="Anton"/>
                <a:sym typeface="Anton"/>
              </a:rPr>
              <a:t>Questions</a:t>
            </a:r>
          </a:p>
        </p:txBody>
      </p:sp>
      <p:sp>
        <p:nvSpPr>
          <p:cNvPr id="13" name="TextBox 13"/>
          <p:cNvSpPr txBox="1"/>
          <p:nvPr/>
        </p:nvSpPr>
        <p:spPr>
          <a:xfrm>
            <a:off x="8691474" y="1369836"/>
            <a:ext cx="8445494" cy="1736725"/>
          </a:xfrm>
          <a:prstGeom prst="rect">
            <a:avLst/>
          </a:prstGeom>
        </p:spPr>
        <p:txBody>
          <a:bodyPr lIns="0" tIns="0" rIns="0" bIns="0" rtlCol="0" anchor="t">
            <a:spAutoFit/>
          </a:bodyPr>
          <a:lstStyle/>
          <a:p>
            <a:pPr marL="539749" lvl="1" indent="-269875" algn="l">
              <a:lnSpc>
                <a:spcPts val="3499"/>
              </a:lnSpc>
              <a:buAutoNum type="arabicPeriod"/>
            </a:pPr>
            <a:r>
              <a:rPr lang="en-US" sz="2499">
                <a:solidFill>
                  <a:srgbClr val="000000"/>
                </a:solidFill>
                <a:latin typeface="DM Sans"/>
                <a:ea typeface="DM Sans"/>
                <a:cs typeface="DM Sans"/>
                <a:sym typeface="DM Sans"/>
              </a:rPr>
              <a:t>Among Nigerian scientists/science educators with equivalent professional standing, does gender predict the presence and development of a Wikipedia biography? </a:t>
            </a:r>
          </a:p>
        </p:txBody>
      </p:sp>
      <p:sp>
        <p:nvSpPr>
          <p:cNvPr id="14" name="TextBox 14"/>
          <p:cNvSpPr txBox="1"/>
          <p:nvPr/>
        </p:nvSpPr>
        <p:spPr>
          <a:xfrm>
            <a:off x="8691474" y="3516136"/>
            <a:ext cx="8445494" cy="1774717"/>
          </a:xfrm>
          <a:prstGeom prst="rect">
            <a:avLst/>
          </a:prstGeom>
        </p:spPr>
        <p:txBody>
          <a:bodyPr lIns="0" tIns="0" rIns="0" bIns="0" rtlCol="0" anchor="t">
            <a:spAutoFit/>
          </a:bodyPr>
          <a:lstStyle/>
          <a:p>
            <a:pPr marL="269874" lvl="1" algn="l">
              <a:lnSpc>
                <a:spcPts val="3499"/>
              </a:lnSpc>
            </a:pPr>
            <a:r>
              <a:rPr lang="en-US" sz="2499" dirty="0">
                <a:solidFill>
                  <a:srgbClr val="000000"/>
                </a:solidFill>
                <a:latin typeface="DM Sans"/>
                <a:ea typeface="DM Sans"/>
                <a:cs typeface="DM Sans"/>
                <a:sym typeface="DM Sans"/>
              </a:rPr>
              <a:t>2. What linguistic patterns, collocations, keywords, and framing devices distinguish the discursive construction of women’s scientific work from men’s, within Wikipedia biography text? </a:t>
            </a:r>
          </a:p>
        </p:txBody>
      </p:sp>
      <p:sp>
        <p:nvSpPr>
          <p:cNvPr id="15" name="TextBox 15"/>
          <p:cNvSpPr txBox="1"/>
          <p:nvPr/>
        </p:nvSpPr>
        <p:spPr>
          <a:xfrm>
            <a:off x="8813806" y="6043892"/>
            <a:ext cx="8445494" cy="877035"/>
          </a:xfrm>
          <a:prstGeom prst="rect">
            <a:avLst/>
          </a:prstGeom>
        </p:spPr>
        <p:txBody>
          <a:bodyPr lIns="0" tIns="0" rIns="0" bIns="0" rtlCol="0" anchor="t">
            <a:spAutoFit/>
          </a:bodyPr>
          <a:lstStyle/>
          <a:p>
            <a:pPr marL="269874" lvl="1" algn="l">
              <a:lnSpc>
                <a:spcPts val="3499"/>
              </a:lnSpc>
            </a:pPr>
            <a:r>
              <a:rPr lang="en-US" sz="2499" dirty="0">
                <a:solidFill>
                  <a:srgbClr val="000000"/>
                </a:solidFill>
                <a:latin typeface="DM Sans"/>
                <a:ea typeface="DM Sans"/>
                <a:cs typeface="DM Sans"/>
                <a:sym typeface="DM Sans"/>
              </a:rPr>
              <a:t>3. What do these findings imply for Wikipedia editing targeting Nigerian women’s representation?</a:t>
            </a:r>
          </a:p>
        </p:txBody>
      </p:sp>
      <p:sp>
        <p:nvSpPr>
          <p:cNvPr id="16" name="Freeform 16"/>
          <p:cNvSpPr/>
          <p:nvPr/>
        </p:nvSpPr>
        <p:spPr>
          <a:xfrm>
            <a:off x="7858418" y="0"/>
            <a:ext cx="2144708" cy="963914"/>
          </a:xfrm>
          <a:custGeom>
            <a:avLst/>
            <a:gdLst/>
            <a:ahLst/>
            <a:cxnLst/>
            <a:rect l="l" t="t" r="r" b="b"/>
            <a:pathLst>
              <a:path w="2144708" h="963914">
                <a:moveTo>
                  <a:pt x="0" y="0"/>
                </a:moveTo>
                <a:lnTo>
                  <a:pt x="2144708" y="0"/>
                </a:lnTo>
                <a:lnTo>
                  <a:pt x="2144708" y="963914"/>
                </a:lnTo>
                <a:lnTo>
                  <a:pt x="0" y="963914"/>
                </a:lnTo>
                <a:lnTo>
                  <a:pt x="0" y="0"/>
                </a:lnTo>
                <a:close/>
              </a:path>
            </a:pathLst>
          </a:custGeom>
          <a:blipFill>
            <a:blip r:embed="rId6"/>
            <a:stretch>
              <a:fillRect l="-77331" t="-79270" r="-71395" b="-132027"/>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rot="-5400000">
            <a:off x="8837050" y="836050"/>
            <a:ext cx="613900" cy="18288000"/>
            <a:chOff x="0" y="0"/>
            <a:chExt cx="126317" cy="3762963"/>
          </a:xfrm>
        </p:grpSpPr>
        <p:sp>
          <p:nvSpPr>
            <p:cNvPr id="4" name="Freeform 4"/>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5" name="TextBox 5"/>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11691540" y="-671505"/>
            <a:ext cx="6596460" cy="5466817"/>
          </a:xfrm>
          <a:custGeom>
            <a:avLst/>
            <a:gdLst/>
            <a:ahLst/>
            <a:cxnLst/>
            <a:rect l="l" t="t" r="r" b="b"/>
            <a:pathLst>
              <a:path w="6596460" h="5466817">
                <a:moveTo>
                  <a:pt x="0" y="0"/>
                </a:moveTo>
                <a:lnTo>
                  <a:pt x="6596460" y="0"/>
                </a:lnTo>
                <a:lnTo>
                  <a:pt x="6596460" y="5466816"/>
                </a:lnTo>
                <a:lnTo>
                  <a:pt x="0" y="5466816"/>
                </a:lnTo>
                <a:lnTo>
                  <a:pt x="0" y="0"/>
                </a:lnTo>
                <a:close/>
              </a:path>
            </a:pathLst>
          </a:custGeom>
          <a:blipFill>
            <a:blip r:embed="rId3"/>
            <a:stretch>
              <a:fillRect/>
            </a:stretch>
          </a:blipFill>
        </p:spPr>
      </p:sp>
      <p:grpSp>
        <p:nvGrpSpPr>
          <p:cNvPr id="7" name="Group 7"/>
          <p:cNvGrpSpPr/>
          <p:nvPr/>
        </p:nvGrpSpPr>
        <p:grpSpPr>
          <a:xfrm rot="-5400000">
            <a:off x="6076498" y="-614273"/>
            <a:ext cx="5115517" cy="15168711"/>
            <a:chOff x="0" y="0"/>
            <a:chExt cx="1052575" cy="3121134"/>
          </a:xfrm>
        </p:grpSpPr>
        <p:sp>
          <p:nvSpPr>
            <p:cNvPr id="8" name="Freeform 8"/>
            <p:cNvSpPr/>
            <p:nvPr/>
          </p:nvSpPr>
          <p:spPr>
            <a:xfrm>
              <a:off x="0" y="0"/>
              <a:ext cx="1052575" cy="3121134"/>
            </a:xfrm>
            <a:custGeom>
              <a:avLst/>
              <a:gdLst/>
              <a:ahLst/>
              <a:cxnLst/>
              <a:rect l="l" t="t" r="r" b="b"/>
              <a:pathLst>
                <a:path w="1052575" h="3121134">
                  <a:moveTo>
                    <a:pt x="0" y="0"/>
                  </a:moveTo>
                  <a:lnTo>
                    <a:pt x="1052575" y="0"/>
                  </a:lnTo>
                  <a:lnTo>
                    <a:pt x="1052575" y="3121134"/>
                  </a:lnTo>
                  <a:lnTo>
                    <a:pt x="0" y="3121134"/>
                  </a:lnTo>
                  <a:close/>
                </a:path>
              </a:pathLst>
            </a:custGeom>
            <a:solidFill>
              <a:srgbClr val="6A7D60"/>
            </a:solidFill>
            <a:ln w="38100" cap="sq">
              <a:solidFill>
                <a:srgbClr val="000000"/>
              </a:solidFill>
              <a:prstDash val="solid"/>
              <a:miter/>
            </a:ln>
          </p:spPr>
        </p:sp>
        <p:sp>
          <p:nvSpPr>
            <p:cNvPr id="9" name="TextBox 9"/>
            <p:cNvSpPr txBox="1"/>
            <p:nvPr/>
          </p:nvSpPr>
          <p:spPr>
            <a:xfrm>
              <a:off x="0" y="-38100"/>
              <a:ext cx="1052575" cy="3159234"/>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TextBox 10"/>
          <p:cNvSpPr txBox="1"/>
          <p:nvPr/>
        </p:nvSpPr>
        <p:spPr>
          <a:xfrm>
            <a:off x="1028700" y="518373"/>
            <a:ext cx="5989598" cy="1143272"/>
          </a:xfrm>
          <a:prstGeom prst="rect">
            <a:avLst/>
          </a:prstGeom>
        </p:spPr>
        <p:txBody>
          <a:bodyPr lIns="0" tIns="0" rIns="0" bIns="0" rtlCol="0" anchor="t">
            <a:spAutoFit/>
          </a:bodyPr>
          <a:lstStyle/>
          <a:p>
            <a:pPr marL="0" lvl="0" indent="0" algn="just">
              <a:lnSpc>
                <a:spcPts val="9137"/>
              </a:lnSpc>
            </a:pPr>
            <a:r>
              <a:rPr lang="en-US" sz="7428" spc="386">
                <a:solidFill>
                  <a:srgbClr val="0F2E00"/>
                </a:solidFill>
                <a:latin typeface="Anton"/>
                <a:ea typeface="Anton"/>
                <a:cs typeface="Anton"/>
                <a:sym typeface="Anton"/>
              </a:rPr>
              <a:t>Methodology</a:t>
            </a:r>
          </a:p>
        </p:txBody>
      </p:sp>
      <p:grpSp>
        <p:nvGrpSpPr>
          <p:cNvPr id="11" name="Group 11"/>
          <p:cNvGrpSpPr/>
          <p:nvPr/>
        </p:nvGrpSpPr>
        <p:grpSpPr>
          <a:xfrm rot="-5400000">
            <a:off x="7346798" y="-1131158"/>
            <a:ext cx="4161605" cy="15663400"/>
            <a:chOff x="0" y="0"/>
            <a:chExt cx="856297" cy="3222922"/>
          </a:xfrm>
        </p:grpSpPr>
        <p:sp>
          <p:nvSpPr>
            <p:cNvPr id="12" name="Freeform 12"/>
            <p:cNvSpPr/>
            <p:nvPr/>
          </p:nvSpPr>
          <p:spPr>
            <a:xfrm>
              <a:off x="0" y="0"/>
              <a:ext cx="856297" cy="3222922"/>
            </a:xfrm>
            <a:custGeom>
              <a:avLst/>
              <a:gdLst/>
              <a:ahLst/>
              <a:cxnLst/>
              <a:rect l="l" t="t" r="r" b="b"/>
              <a:pathLst>
                <a:path w="856297" h="3222922">
                  <a:moveTo>
                    <a:pt x="0" y="0"/>
                  </a:moveTo>
                  <a:lnTo>
                    <a:pt x="856297" y="0"/>
                  </a:lnTo>
                  <a:lnTo>
                    <a:pt x="856297" y="3222922"/>
                  </a:lnTo>
                  <a:lnTo>
                    <a:pt x="0" y="3222922"/>
                  </a:lnTo>
                  <a:close/>
                </a:path>
              </a:pathLst>
            </a:custGeom>
            <a:solidFill>
              <a:srgbClr val="F1F2F2"/>
            </a:solidFill>
            <a:ln w="38100" cap="sq">
              <a:solidFill>
                <a:srgbClr val="000000"/>
              </a:solidFill>
              <a:prstDash val="solid"/>
              <a:miter/>
            </a:ln>
          </p:spPr>
        </p:sp>
        <p:sp>
          <p:nvSpPr>
            <p:cNvPr id="13" name="TextBox 13"/>
            <p:cNvSpPr txBox="1"/>
            <p:nvPr/>
          </p:nvSpPr>
          <p:spPr>
            <a:xfrm>
              <a:off x="0" y="-38100"/>
              <a:ext cx="856297" cy="3261022"/>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4" name="TextBox 14"/>
          <p:cNvSpPr txBox="1"/>
          <p:nvPr/>
        </p:nvSpPr>
        <p:spPr>
          <a:xfrm>
            <a:off x="1743978" y="4852461"/>
            <a:ext cx="12124422" cy="404791"/>
          </a:xfrm>
          <a:prstGeom prst="rect">
            <a:avLst/>
          </a:prstGeom>
        </p:spPr>
        <p:txBody>
          <a:bodyPr wrap="square" lIns="0" tIns="0" rIns="0" bIns="0" rtlCol="0" anchor="t">
            <a:spAutoFit/>
          </a:bodyPr>
          <a:lstStyle/>
          <a:p>
            <a:pPr marL="0" lvl="0" indent="0" algn="l">
              <a:lnSpc>
                <a:spcPts val="3339"/>
              </a:lnSpc>
            </a:pPr>
            <a:r>
              <a:rPr lang="en-US" sz="2385" b="1" dirty="0">
                <a:solidFill>
                  <a:srgbClr val="000000"/>
                </a:solidFill>
                <a:latin typeface="DM Sans Bold"/>
                <a:ea typeface="DM Sans Bold"/>
                <a:cs typeface="DM Sans Bold"/>
                <a:sym typeface="DM Sans Bold"/>
              </a:rPr>
              <a:t>Coverage Analysis: Logistic Regression for Presence and Length by Gender</a:t>
            </a:r>
          </a:p>
        </p:txBody>
      </p:sp>
      <p:sp>
        <p:nvSpPr>
          <p:cNvPr id="15" name="TextBox 15"/>
          <p:cNvSpPr txBox="1"/>
          <p:nvPr/>
        </p:nvSpPr>
        <p:spPr>
          <a:xfrm>
            <a:off x="1049901" y="1614020"/>
            <a:ext cx="10681685" cy="2502093"/>
          </a:xfrm>
          <a:prstGeom prst="rect">
            <a:avLst/>
          </a:prstGeom>
        </p:spPr>
        <p:txBody>
          <a:bodyPr lIns="0" tIns="0" rIns="0" bIns="0" rtlCol="0" anchor="t">
            <a:spAutoFit/>
          </a:bodyPr>
          <a:lstStyle/>
          <a:p>
            <a:pPr marL="0" lvl="0" indent="0" algn="l">
              <a:lnSpc>
                <a:spcPts val="3314"/>
              </a:lnSpc>
              <a:spcBef>
                <a:spcPct val="0"/>
              </a:spcBef>
            </a:pPr>
            <a:r>
              <a:rPr lang="en-US" sz="2367" b="1" dirty="0">
                <a:solidFill>
                  <a:srgbClr val="000000"/>
                </a:solidFill>
                <a:latin typeface="DM Sans Bold"/>
                <a:ea typeface="DM Sans Bold"/>
                <a:cs typeface="DM Sans Bold"/>
                <a:sym typeface="DM Sans Bold"/>
              </a:rPr>
              <a:t>Cross-sectional, corpus-based, mixed-methods design. External benchmark roster drawn from </a:t>
            </a:r>
            <a:r>
              <a:rPr lang="en-US" sz="2367" b="1" dirty="0" err="1">
                <a:solidFill>
                  <a:srgbClr val="000000"/>
                </a:solidFill>
                <a:latin typeface="DM Sans Bold"/>
                <a:ea typeface="DM Sans Bold"/>
                <a:cs typeface="DM Sans Bold"/>
                <a:sym typeface="DM Sans Bold"/>
              </a:rPr>
              <a:t>OpenAlex</a:t>
            </a:r>
            <a:r>
              <a:rPr lang="en-US" sz="2367" b="1" dirty="0">
                <a:solidFill>
                  <a:srgbClr val="000000"/>
                </a:solidFill>
                <a:latin typeface="DM Sans Bold"/>
                <a:ea typeface="DM Sans Bold"/>
                <a:cs typeface="DM Sans Bold"/>
                <a:sym typeface="DM Sans Bold"/>
              </a:rPr>
              <a:t>, ORCID, and Nigerian university staff directories. A matched male comparison group is constructed via Wikidata SPARQL queries controlling for discipline, rank, and career age. Three linked data layers will be used: Wikipedia article text, coverage metadata, and Wikidata/WikiProject categories.</a:t>
            </a:r>
          </a:p>
        </p:txBody>
      </p:sp>
      <p:sp>
        <p:nvSpPr>
          <p:cNvPr id="16" name="TextBox 16"/>
          <p:cNvSpPr txBox="1"/>
          <p:nvPr/>
        </p:nvSpPr>
        <p:spPr>
          <a:xfrm>
            <a:off x="1743978" y="6652917"/>
            <a:ext cx="11527769" cy="406134"/>
          </a:xfrm>
          <a:prstGeom prst="rect">
            <a:avLst/>
          </a:prstGeom>
        </p:spPr>
        <p:txBody>
          <a:bodyPr lIns="0" tIns="0" rIns="0" bIns="0" rtlCol="0" anchor="t">
            <a:spAutoFit/>
          </a:bodyPr>
          <a:lstStyle/>
          <a:p>
            <a:pPr marL="0" lvl="0" indent="0" algn="l">
              <a:lnSpc>
                <a:spcPts val="3339"/>
              </a:lnSpc>
            </a:pPr>
            <a:r>
              <a:rPr lang="en-US" sz="2385" b="1">
                <a:solidFill>
                  <a:srgbClr val="000000"/>
                </a:solidFill>
                <a:latin typeface="DM Sans Bold"/>
                <a:ea typeface="DM Sans Bold"/>
                <a:cs typeface="DM Sans Bold"/>
                <a:sym typeface="DM Sans Bold"/>
              </a:rPr>
              <a:t>Corpus Linguistic Analysis: Collocation, Keyness, and Framing</a:t>
            </a:r>
          </a:p>
        </p:txBody>
      </p:sp>
      <p:sp>
        <p:nvSpPr>
          <p:cNvPr id="17" name="TextBox 17"/>
          <p:cNvSpPr txBox="1"/>
          <p:nvPr/>
        </p:nvSpPr>
        <p:spPr>
          <a:xfrm>
            <a:off x="2598534" y="5394818"/>
            <a:ext cx="14484812" cy="1180658"/>
          </a:xfrm>
          <a:prstGeom prst="rect">
            <a:avLst/>
          </a:prstGeom>
        </p:spPr>
        <p:txBody>
          <a:bodyPr lIns="0" tIns="0" rIns="0" bIns="0" rtlCol="0" anchor="t">
            <a:spAutoFit/>
          </a:bodyPr>
          <a:lstStyle/>
          <a:p>
            <a:pPr marL="0" lvl="0" indent="0" algn="l">
              <a:lnSpc>
                <a:spcPts val="3174"/>
              </a:lnSpc>
              <a:spcBef>
                <a:spcPct val="0"/>
              </a:spcBef>
            </a:pPr>
            <a:r>
              <a:rPr lang="en-US" sz="2267" dirty="0">
                <a:solidFill>
                  <a:srgbClr val="000000"/>
                </a:solidFill>
                <a:latin typeface="DM Sans"/>
                <a:ea typeface="DM Sans"/>
                <a:cs typeface="DM Sans"/>
                <a:sym typeface="DM Sans"/>
              </a:rPr>
              <a:t>Logistic regression models are applied to assess whether gender predicts Wikipedia presence and article length, while controlling for professional characteristics such as discipline, academic rank, and career age. Coverage gaps are quantified against the external benchmark roster.</a:t>
            </a:r>
          </a:p>
        </p:txBody>
      </p:sp>
      <p:sp>
        <p:nvSpPr>
          <p:cNvPr id="18" name="TextBox 18"/>
          <p:cNvSpPr txBox="1"/>
          <p:nvPr/>
        </p:nvSpPr>
        <p:spPr>
          <a:xfrm>
            <a:off x="2491870" y="7148217"/>
            <a:ext cx="14484812" cy="1180658"/>
          </a:xfrm>
          <a:prstGeom prst="rect">
            <a:avLst/>
          </a:prstGeom>
        </p:spPr>
        <p:txBody>
          <a:bodyPr lIns="0" tIns="0" rIns="0" bIns="0" rtlCol="0" anchor="t">
            <a:spAutoFit/>
          </a:bodyPr>
          <a:lstStyle/>
          <a:p>
            <a:pPr marL="0" lvl="0" indent="0" algn="l">
              <a:lnSpc>
                <a:spcPts val="3174"/>
              </a:lnSpc>
              <a:spcBef>
                <a:spcPct val="0"/>
              </a:spcBef>
            </a:pPr>
            <a:r>
              <a:rPr lang="en-US" sz="2267">
                <a:solidFill>
                  <a:srgbClr val="000000"/>
                </a:solidFill>
                <a:latin typeface="DM Sans"/>
                <a:ea typeface="DM Sans"/>
                <a:cs typeface="DM Sans"/>
                <a:sym typeface="DM Sans"/>
              </a:rPr>
              <a:t>Collocation and keyness analyses are conducted using #LancsBox/R, with dependency parsing as a fallback for small corpora. A coding scheme captures agency and authority framing. Inter-coder reliability target: Cohen's κ ≥ .70.</a:t>
            </a:r>
          </a:p>
        </p:txBody>
      </p:sp>
      <p:sp>
        <p:nvSpPr>
          <p:cNvPr id="19" name="Freeform 19"/>
          <p:cNvSpPr/>
          <p:nvPr/>
        </p:nvSpPr>
        <p:spPr>
          <a:xfrm>
            <a:off x="7858418" y="0"/>
            <a:ext cx="2144708" cy="963914"/>
          </a:xfrm>
          <a:custGeom>
            <a:avLst/>
            <a:gdLst/>
            <a:ahLst/>
            <a:cxnLst/>
            <a:rect l="l" t="t" r="r" b="b"/>
            <a:pathLst>
              <a:path w="2144708" h="963914">
                <a:moveTo>
                  <a:pt x="0" y="0"/>
                </a:moveTo>
                <a:lnTo>
                  <a:pt x="2144708" y="0"/>
                </a:lnTo>
                <a:lnTo>
                  <a:pt x="2144708" y="963914"/>
                </a:lnTo>
                <a:lnTo>
                  <a:pt x="0" y="963914"/>
                </a:lnTo>
                <a:lnTo>
                  <a:pt x="0" y="0"/>
                </a:lnTo>
                <a:close/>
              </a:path>
            </a:pathLst>
          </a:custGeom>
          <a:blipFill>
            <a:blip r:embed="rId4"/>
            <a:stretch>
              <a:fillRect l="-77331" t="-79270" r="-71395" b="-132027"/>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rot="-5400000">
            <a:off x="3700010" y="-4006960"/>
            <a:ext cx="613900" cy="8013919"/>
            <a:chOff x="0" y="0"/>
            <a:chExt cx="126317" cy="1648955"/>
          </a:xfrm>
        </p:grpSpPr>
        <p:sp>
          <p:nvSpPr>
            <p:cNvPr id="4" name="Freeform 4"/>
            <p:cNvSpPr/>
            <p:nvPr/>
          </p:nvSpPr>
          <p:spPr>
            <a:xfrm>
              <a:off x="0" y="0"/>
              <a:ext cx="126317" cy="1648955"/>
            </a:xfrm>
            <a:custGeom>
              <a:avLst/>
              <a:gdLst/>
              <a:ahLst/>
              <a:cxnLst/>
              <a:rect l="l" t="t" r="r" b="b"/>
              <a:pathLst>
                <a:path w="126317" h="1648955">
                  <a:moveTo>
                    <a:pt x="0" y="0"/>
                  </a:moveTo>
                  <a:lnTo>
                    <a:pt x="126317" y="0"/>
                  </a:lnTo>
                  <a:lnTo>
                    <a:pt x="126317" y="1648955"/>
                  </a:lnTo>
                  <a:lnTo>
                    <a:pt x="0" y="1648955"/>
                  </a:lnTo>
                  <a:close/>
                </a:path>
              </a:pathLst>
            </a:custGeom>
            <a:solidFill>
              <a:srgbClr val="6A7D60"/>
            </a:solidFill>
          </p:spPr>
        </p:sp>
        <p:sp>
          <p:nvSpPr>
            <p:cNvPr id="5" name="TextBox 5"/>
            <p:cNvSpPr txBox="1"/>
            <p:nvPr/>
          </p:nvSpPr>
          <p:spPr>
            <a:xfrm>
              <a:off x="0" y="-38100"/>
              <a:ext cx="126317" cy="1687055"/>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14599805" y="-2190162"/>
            <a:ext cx="6675929" cy="4114800"/>
          </a:xfrm>
          <a:custGeom>
            <a:avLst/>
            <a:gdLst/>
            <a:ahLst/>
            <a:cxnLst/>
            <a:rect l="l" t="t" r="r" b="b"/>
            <a:pathLst>
              <a:path w="6675929" h="4114800">
                <a:moveTo>
                  <a:pt x="0" y="0"/>
                </a:moveTo>
                <a:lnTo>
                  <a:pt x="6675930" y="0"/>
                </a:lnTo>
                <a:lnTo>
                  <a:pt x="667593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028700" y="278375"/>
            <a:ext cx="6914126" cy="2512406"/>
          </a:xfrm>
          <a:prstGeom prst="rect">
            <a:avLst/>
          </a:prstGeom>
        </p:spPr>
        <p:txBody>
          <a:bodyPr lIns="0" tIns="0" rIns="0" bIns="0" rtlCol="0" anchor="t">
            <a:spAutoFit/>
          </a:bodyPr>
          <a:lstStyle/>
          <a:p>
            <a:pPr marL="0" lvl="0" indent="0" algn="l">
              <a:lnSpc>
                <a:spcPts val="9933"/>
              </a:lnSpc>
            </a:pPr>
            <a:r>
              <a:rPr lang="en-US" sz="8075" spc="419">
                <a:solidFill>
                  <a:srgbClr val="0F2E00"/>
                </a:solidFill>
                <a:latin typeface="Anton"/>
                <a:ea typeface="Anton"/>
                <a:cs typeface="Anton"/>
                <a:sym typeface="Anton"/>
              </a:rPr>
              <a:t>Significance</a:t>
            </a:r>
          </a:p>
          <a:p>
            <a:pPr marL="0" lvl="0" indent="0" algn="l">
              <a:lnSpc>
                <a:spcPts val="9933"/>
              </a:lnSpc>
            </a:pPr>
            <a:r>
              <a:rPr lang="en-US" sz="8075" spc="419">
                <a:solidFill>
                  <a:srgbClr val="0F2E00"/>
                </a:solidFill>
                <a:latin typeface="Anton"/>
                <a:ea typeface="Anton"/>
                <a:cs typeface="Anton"/>
                <a:sym typeface="Anton"/>
              </a:rPr>
              <a:t>of the Study</a:t>
            </a:r>
          </a:p>
        </p:txBody>
      </p:sp>
      <p:sp>
        <p:nvSpPr>
          <p:cNvPr id="8" name="TextBox 8"/>
          <p:cNvSpPr txBox="1"/>
          <p:nvPr/>
        </p:nvSpPr>
        <p:spPr>
          <a:xfrm>
            <a:off x="736298" y="3071138"/>
            <a:ext cx="16388948" cy="6646544"/>
          </a:xfrm>
          <a:prstGeom prst="rect">
            <a:avLst/>
          </a:prstGeom>
        </p:spPr>
        <p:txBody>
          <a:bodyPr lIns="0" tIns="0" rIns="0" bIns="0" rtlCol="0" anchor="t">
            <a:spAutoFit/>
          </a:bodyPr>
          <a:lstStyle/>
          <a:p>
            <a:pPr marL="0" lvl="0" indent="0" algn="l">
              <a:lnSpc>
                <a:spcPts val="3780"/>
              </a:lnSpc>
              <a:spcBef>
                <a:spcPct val="0"/>
              </a:spcBef>
            </a:pPr>
            <a:r>
              <a:rPr lang="en-US" sz="2700" b="1">
                <a:solidFill>
                  <a:srgbClr val="000000"/>
                </a:solidFill>
                <a:latin typeface="DM Sans Bold"/>
                <a:ea typeface="DM Sans Bold"/>
                <a:cs typeface="DM Sans Bold"/>
                <a:sym typeface="DM Sans Bold"/>
              </a:rPr>
              <a:t>This study makes a unique dual contribution by bridging two under-connected bodies of literature: Wikipedia representational bias research and Nigerian STEM gender equity scholarship.</a:t>
            </a:r>
          </a:p>
          <a:p>
            <a:pPr marL="0" lvl="0" indent="0" algn="l">
              <a:lnSpc>
                <a:spcPts val="3780"/>
              </a:lnSpc>
              <a:spcBef>
                <a:spcPct val="0"/>
              </a:spcBef>
            </a:pPr>
            <a:endParaRPr lang="en-US" sz="2700" b="1">
              <a:solidFill>
                <a:srgbClr val="000000"/>
              </a:solidFill>
              <a:latin typeface="DM Sans Bold"/>
              <a:ea typeface="DM Sans Bold"/>
              <a:cs typeface="DM Sans Bold"/>
              <a:sym typeface="DM Sans Bold"/>
            </a:endParaRPr>
          </a:p>
          <a:p>
            <a:pPr marL="0" lvl="0" indent="0" algn="l">
              <a:lnSpc>
                <a:spcPts val="3780"/>
              </a:lnSpc>
              <a:spcBef>
                <a:spcPct val="0"/>
              </a:spcBef>
            </a:pPr>
            <a:r>
              <a:rPr lang="en-US" sz="2700" b="1">
                <a:solidFill>
                  <a:srgbClr val="000000"/>
                </a:solidFill>
                <a:latin typeface="DM Sans Bold"/>
                <a:ea typeface="DM Sans Bold"/>
                <a:cs typeface="DM Sans Bold"/>
                <a:sym typeface="DM Sans Bold"/>
              </a:rPr>
              <a:t>• Fills a critical gap: no existing study examines the intersection of gender and geographic bias on Wikipedia for Nigerian women scientists and Science educators</a:t>
            </a:r>
          </a:p>
          <a:p>
            <a:pPr marL="0" lvl="0" indent="0" algn="l">
              <a:lnSpc>
                <a:spcPts val="3780"/>
              </a:lnSpc>
              <a:spcBef>
                <a:spcPct val="0"/>
              </a:spcBef>
            </a:pPr>
            <a:endParaRPr lang="en-US" sz="2700" b="1">
              <a:solidFill>
                <a:srgbClr val="000000"/>
              </a:solidFill>
              <a:latin typeface="DM Sans Bold"/>
              <a:ea typeface="DM Sans Bold"/>
              <a:cs typeface="DM Sans Bold"/>
              <a:sym typeface="DM Sans Bold"/>
            </a:endParaRPr>
          </a:p>
          <a:p>
            <a:pPr marL="0" lvl="0" indent="0" algn="l">
              <a:lnSpc>
                <a:spcPts val="3780"/>
              </a:lnSpc>
              <a:spcBef>
                <a:spcPct val="0"/>
              </a:spcBef>
            </a:pPr>
            <a:r>
              <a:rPr lang="en-US" sz="2700" b="1">
                <a:solidFill>
                  <a:srgbClr val="000000"/>
                </a:solidFill>
                <a:latin typeface="DM Sans Bold"/>
                <a:ea typeface="DM Sans Bold"/>
                <a:cs typeface="DM Sans Bold"/>
                <a:sym typeface="DM Sans Bold"/>
              </a:rPr>
              <a:t>• Provides empirical evidence on gendered digital visibility specific to Nigerian women scientists and science educators</a:t>
            </a:r>
          </a:p>
          <a:p>
            <a:pPr marL="0" lvl="0" indent="0" algn="l">
              <a:lnSpc>
                <a:spcPts val="3780"/>
              </a:lnSpc>
              <a:spcBef>
                <a:spcPct val="0"/>
              </a:spcBef>
            </a:pPr>
            <a:endParaRPr lang="en-US" sz="2700" b="1">
              <a:solidFill>
                <a:srgbClr val="000000"/>
              </a:solidFill>
              <a:latin typeface="DM Sans Bold"/>
              <a:ea typeface="DM Sans Bold"/>
              <a:cs typeface="DM Sans Bold"/>
              <a:sym typeface="DM Sans Bold"/>
            </a:endParaRPr>
          </a:p>
          <a:p>
            <a:pPr marL="0" lvl="0" indent="0" algn="l">
              <a:lnSpc>
                <a:spcPts val="3780"/>
              </a:lnSpc>
              <a:spcBef>
                <a:spcPct val="0"/>
              </a:spcBef>
            </a:pPr>
            <a:r>
              <a:rPr lang="en-US" sz="2700" b="1">
                <a:solidFill>
                  <a:srgbClr val="000000"/>
                </a:solidFill>
                <a:latin typeface="DM Sans Bold"/>
                <a:ea typeface="DM Sans Bold"/>
                <a:cs typeface="DM Sans Bold"/>
                <a:sym typeface="DM Sans Bold"/>
              </a:rPr>
              <a:t>• Informs Wikipedia editing initiatives, including Africa Wiki Women and Wiki Loves Women, etc with Nigeria-specific, data-driven evidence</a:t>
            </a:r>
          </a:p>
          <a:p>
            <a:pPr marL="0" lvl="0" indent="0" algn="l">
              <a:lnSpc>
                <a:spcPts val="3780"/>
              </a:lnSpc>
              <a:spcBef>
                <a:spcPct val="0"/>
              </a:spcBef>
            </a:pPr>
            <a:endParaRPr lang="en-US" sz="2700" b="1">
              <a:solidFill>
                <a:srgbClr val="000000"/>
              </a:solidFill>
              <a:latin typeface="DM Sans Bold"/>
              <a:ea typeface="DM Sans Bold"/>
              <a:cs typeface="DM Sans Bold"/>
              <a:sym typeface="DM Sans Bold"/>
            </a:endParaRPr>
          </a:p>
          <a:p>
            <a:pPr marL="0" lvl="0" indent="0" algn="l">
              <a:lnSpc>
                <a:spcPts val="3780"/>
              </a:lnSpc>
              <a:spcBef>
                <a:spcPct val="0"/>
              </a:spcBef>
            </a:pPr>
            <a:r>
              <a:rPr lang="en-US" sz="2700" b="1">
                <a:solidFill>
                  <a:srgbClr val="000000"/>
                </a:solidFill>
                <a:latin typeface="DM Sans Bold"/>
                <a:ea typeface="DM Sans Bold"/>
                <a:cs typeface="DM Sans Bold"/>
                <a:sym typeface="DM Sans Bold"/>
              </a:rPr>
              <a:t>• Supports broader efforts to advance gender equity in digital knowledge representation and open-access scholarship</a:t>
            </a:r>
          </a:p>
        </p:txBody>
      </p:sp>
      <p:sp>
        <p:nvSpPr>
          <p:cNvPr id="9" name="Freeform 9"/>
          <p:cNvSpPr/>
          <p:nvPr/>
        </p:nvSpPr>
        <p:spPr>
          <a:xfrm>
            <a:off x="7858418" y="0"/>
            <a:ext cx="2144708" cy="963914"/>
          </a:xfrm>
          <a:custGeom>
            <a:avLst/>
            <a:gdLst/>
            <a:ahLst/>
            <a:cxnLst/>
            <a:rect l="l" t="t" r="r" b="b"/>
            <a:pathLst>
              <a:path w="2144708" h="963914">
                <a:moveTo>
                  <a:pt x="0" y="0"/>
                </a:moveTo>
                <a:lnTo>
                  <a:pt x="2144708" y="0"/>
                </a:lnTo>
                <a:lnTo>
                  <a:pt x="2144708" y="963914"/>
                </a:lnTo>
                <a:lnTo>
                  <a:pt x="0" y="963914"/>
                </a:lnTo>
                <a:lnTo>
                  <a:pt x="0" y="0"/>
                </a:lnTo>
                <a:close/>
              </a:path>
            </a:pathLst>
          </a:custGeom>
          <a:blipFill>
            <a:blip r:embed="rId5"/>
            <a:stretch>
              <a:fillRect l="-77331" t="-79270" r="-71395" b="-132027"/>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6666" b="-16666"/>
            </a:stretch>
          </a:blipFill>
        </p:spPr>
      </p:sp>
      <p:grpSp>
        <p:nvGrpSpPr>
          <p:cNvPr id="3" name="Group 3"/>
          <p:cNvGrpSpPr/>
          <p:nvPr/>
        </p:nvGrpSpPr>
        <p:grpSpPr>
          <a:xfrm>
            <a:off x="0" y="0"/>
            <a:ext cx="613900" cy="5143500"/>
            <a:chOff x="0" y="0"/>
            <a:chExt cx="126317" cy="1058333"/>
          </a:xfrm>
        </p:grpSpPr>
        <p:sp>
          <p:nvSpPr>
            <p:cNvPr id="4" name="Freeform 4"/>
            <p:cNvSpPr/>
            <p:nvPr/>
          </p:nvSpPr>
          <p:spPr>
            <a:xfrm>
              <a:off x="0" y="0"/>
              <a:ext cx="126317" cy="1058333"/>
            </a:xfrm>
            <a:custGeom>
              <a:avLst/>
              <a:gdLst/>
              <a:ahLst/>
              <a:cxnLst/>
              <a:rect l="l" t="t" r="r" b="b"/>
              <a:pathLst>
                <a:path w="126317" h="1058333">
                  <a:moveTo>
                    <a:pt x="0" y="0"/>
                  </a:moveTo>
                  <a:lnTo>
                    <a:pt x="126317" y="0"/>
                  </a:lnTo>
                  <a:lnTo>
                    <a:pt x="126317" y="1058333"/>
                  </a:lnTo>
                  <a:lnTo>
                    <a:pt x="0" y="1058333"/>
                  </a:lnTo>
                  <a:close/>
                </a:path>
              </a:pathLst>
            </a:custGeom>
            <a:solidFill>
              <a:srgbClr val="6A7D60"/>
            </a:solidFill>
          </p:spPr>
        </p:sp>
        <p:sp>
          <p:nvSpPr>
            <p:cNvPr id="5" name="TextBox 5"/>
            <p:cNvSpPr txBox="1"/>
            <p:nvPr/>
          </p:nvSpPr>
          <p:spPr>
            <a:xfrm>
              <a:off x="0" y="-38100"/>
              <a:ext cx="126317" cy="109643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6" name="Freeform 6"/>
          <p:cNvSpPr/>
          <p:nvPr/>
        </p:nvSpPr>
        <p:spPr>
          <a:xfrm>
            <a:off x="-542691" y="7385800"/>
            <a:ext cx="19373382" cy="8101596"/>
          </a:xfrm>
          <a:custGeom>
            <a:avLst/>
            <a:gdLst/>
            <a:ahLst/>
            <a:cxnLst/>
            <a:rect l="l" t="t" r="r" b="b"/>
            <a:pathLst>
              <a:path w="19373382" h="8101596">
                <a:moveTo>
                  <a:pt x="0" y="0"/>
                </a:moveTo>
                <a:lnTo>
                  <a:pt x="19373382" y="0"/>
                </a:lnTo>
                <a:lnTo>
                  <a:pt x="19373382" y="8101597"/>
                </a:lnTo>
                <a:lnTo>
                  <a:pt x="0" y="8101597"/>
                </a:lnTo>
                <a:lnTo>
                  <a:pt x="0" y="0"/>
                </a:lnTo>
                <a:close/>
              </a:path>
            </a:pathLst>
          </a:custGeom>
          <a:blipFill>
            <a:blip r:embed="rId3">
              <a:alphaModFix amt="16000"/>
              <a:extLst>
                <a:ext uri="{96DAC541-7B7A-43D3-8B79-37D633B846F1}">
                  <asvg:svgBlip xmlns:asvg="http://schemas.microsoft.com/office/drawing/2016/SVG/main" r:embed="rId4"/>
                </a:ext>
              </a:extLst>
            </a:blip>
            <a:stretch>
              <a:fillRect/>
            </a:stretch>
          </a:blipFill>
        </p:spPr>
      </p:sp>
      <p:grpSp>
        <p:nvGrpSpPr>
          <p:cNvPr id="7" name="Group 7"/>
          <p:cNvGrpSpPr/>
          <p:nvPr/>
        </p:nvGrpSpPr>
        <p:grpSpPr>
          <a:xfrm rot="-5400000">
            <a:off x="8837050" y="836050"/>
            <a:ext cx="613900" cy="18288000"/>
            <a:chOff x="0" y="0"/>
            <a:chExt cx="126317" cy="3762963"/>
          </a:xfrm>
        </p:grpSpPr>
        <p:sp>
          <p:nvSpPr>
            <p:cNvPr id="8" name="Freeform 8"/>
            <p:cNvSpPr/>
            <p:nvPr/>
          </p:nvSpPr>
          <p:spPr>
            <a:xfrm>
              <a:off x="0" y="0"/>
              <a:ext cx="126317" cy="3762963"/>
            </a:xfrm>
            <a:custGeom>
              <a:avLst/>
              <a:gdLst/>
              <a:ahLst/>
              <a:cxnLst/>
              <a:rect l="l" t="t" r="r" b="b"/>
              <a:pathLst>
                <a:path w="126317" h="3762963">
                  <a:moveTo>
                    <a:pt x="0" y="0"/>
                  </a:moveTo>
                  <a:lnTo>
                    <a:pt x="126317" y="0"/>
                  </a:lnTo>
                  <a:lnTo>
                    <a:pt x="126317" y="3762963"/>
                  </a:lnTo>
                  <a:lnTo>
                    <a:pt x="0" y="3762963"/>
                  </a:lnTo>
                  <a:close/>
                </a:path>
              </a:pathLst>
            </a:custGeom>
            <a:solidFill>
              <a:srgbClr val="6A7D60"/>
            </a:solidFill>
          </p:spPr>
        </p:sp>
        <p:sp>
          <p:nvSpPr>
            <p:cNvPr id="9" name="TextBox 9"/>
            <p:cNvSpPr txBox="1"/>
            <p:nvPr/>
          </p:nvSpPr>
          <p:spPr>
            <a:xfrm>
              <a:off x="0" y="-38100"/>
              <a:ext cx="126317" cy="3801063"/>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0" name="Freeform 10"/>
          <p:cNvSpPr/>
          <p:nvPr/>
        </p:nvSpPr>
        <p:spPr>
          <a:xfrm>
            <a:off x="16792921" y="627386"/>
            <a:ext cx="802628" cy="802628"/>
          </a:xfrm>
          <a:custGeom>
            <a:avLst/>
            <a:gdLst/>
            <a:ahLst/>
            <a:cxnLst/>
            <a:rect l="l" t="t" r="r" b="b"/>
            <a:pathLst>
              <a:path w="802628" h="802628">
                <a:moveTo>
                  <a:pt x="0" y="0"/>
                </a:moveTo>
                <a:lnTo>
                  <a:pt x="802627" y="0"/>
                </a:lnTo>
                <a:lnTo>
                  <a:pt x="802627" y="802628"/>
                </a:lnTo>
                <a:lnTo>
                  <a:pt x="0" y="80262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Freeform 11"/>
          <p:cNvSpPr/>
          <p:nvPr/>
        </p:nvSpPr>
        <p:spPr>
          <a:xfrm rot="-8752831">
            <a:off x="14888443" y="-1244404"/>
            <a:ext cx="5414211" cy="4114800"/>
          </a:xfrm>
          <a:custGeom>
            <a:avLst/>
            <a:gdLst/>
            <a:ahLst/>
            <a:cxnLst/>
            <a:rect l="l" t="t" r="r" b="b"/>
            <a:pathLst>
              <a:path w="5414211" h="4114800">
                <a:moveTo>
                  <a:pt x="0" y="0"/>
                </a:moveTo>
                <a:lnTo>
                  <a:pt x="5414211" y="0"/>
                </a:lnTo>
                <a:lnTo>
                  <a:pt x="5414211"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2" name="TextBox 12"/>
          <p:cNvSpPr txBox="1"/>
          <p:nvPr/>
        </p:nvSpPr>
        <p:spPr>
          <a:xfrm>
            <a:off x="3958185" y="3863276"/>
            <a:ext cx="10242196" cy="1566276"/>
          </a:xfrm>
          <a:prstGeom prst="rect">
            <a:avLst/>
          </a:prstGeom>
        </p:spPr>
        <p:txBody>
          <a:bodyPr lIns="0" tIns="0" rIns="0" bIns="0" rtlCol="0" anchor="t">
            <a:spAutoFit/>
          </a:bodyPr>
          <a:lstStyle/>
          <a:p>
            <a:pPr marL="0" lvl="0" indent="0" algn="ctr">
              <a:lnSpc>
                <a:spcPts val="12894"/>
              </a:lnSpc>
              <a:spcBef>
                <a:spcPct val="0"/>
              </a:spcBef>
            </a:pPr>
            <a:r>
              <a:rPr lang="en-US" sz="9210">
                <a:solidFill>
                  <a:srgbClr val="143B00"/>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2277</TotalTime>
  <Words>604</Words>
  <Application>Microsoft Office PowerPoint</Application>
  <PresentationFormat>Custom</PresentationFormat>
  <Paragraphs>41</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DM Sans Bold</vt:lpstr>
      <vt:lpstr>Arial</vt:lpstr>
      <vt:lpstr>DM Sans</vt:lpstr>
      <vt:lpstr>Anton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Gendered Visibility on Nigerian Wikipedia</dc:title>
  <dc:creator>Bianca Uzoamaka Mbonu-Adigwe</dc:creator>
  <cp:lastModifiedBy>Reviewer</cp:lastModifiedBy>
  <cp:revision>4</cp:revision>
  <dcterms:created xsi:type="dcterms:W3CDTF">2006-08-16T00:00:00Z</dcterms:created>
  <dcterms:modified xsi:type="dcterms:W3CDTF">2026-07-31T08:53:54Z</dcterms:modified>
  <dc:identifier>DAHQycq3CqM</dc:identifier>
</cp:coreProperties>
</file>