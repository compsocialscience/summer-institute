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79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6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-205740"/>
            <a:ext cx="12188952" cy="6858000"/>
          </a:xfrm>
          <a:prstGeom prst="rect">
            <a:avLst/>
          </a:prstGeom>
          <a:solidFill>
            <a:srgbClr val="0A6847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7452F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07452F"/>
          </a:solidFill>
          <a:ln/>
        </p:spPr>
      </p:sp>
      <p:pic>
        <p:nvPicPr>
          <p:cNvPr id="5" name="Image 0" descr="/home/claude/build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623455"/>
            <a:ext cx="10241280" cy="3582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" sz="2400" b="1" dirty="0">
                <a:solidFill>
                  <a:schemeClr val="bg1"/>
                </a:solidFill>
              </a:rPr>
              <a:t>Cross-Linguistic Inequalities in Nigerian Political Knowledge across Wikipedia and Wikidata: A Computational Audit and Controlled RAG Experiment</a:t>
            </a:r>
            <a:endParaRPr lang="en-NG" sz="24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355675" y="3840480"/>
            <a:ext cx="2856807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dirty="0">
              <a:solidFill>
                <a:srgbClr val="E4EF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Osakpolo </a:t>
            </a:r>
            <a:r>
              <a:rPr lang="en-US" dirty="0" err="1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Igbinovia</a:t>
            </a:r>
            <a:endParaRPr lang="en-US" dirty="0">
              <a:solidFill>
                <a:srgbClr val="E4EF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Gladys </a:t>
            </a:r>
            <a:r>
              <a:rPr lang="en-US" dirty="0" err="1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Ehindola</a:t>
            </a:r>
            <a:endParaRPr lang="en-US" dirty="0">
              <a:solidFill>
                <a:srgbClr val="E4EFE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Daniel </a:t>
            </a:r>
            <a:r>
              <a:rPr lang="en-US" dirty="0" err="1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Nyitse</a:t>
            </a:r>
            <a:endParaRPr lang="en-US" dirty="0">
              <a:solidFill>
                <a:srgbClr val="E4EFE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Andikan </a:t>
            </a:r>
            <a:r>
              <a:rPr lang="en-US" dirty="0" err="1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Eduok</a:t>
            </a:r>
            <a:endParaRPr lang="en-US" dirty="0">
              <a:solidFill>
                <a:srgbClr val="E4EFE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Wendyam</a:t>
            </a:r>
            <a:r>
              <a:rPr lang="en-US" dirty="0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 Fulbert</a:t>
            </a:r>
          </a:p>
          <a:p>
            <a:pPr marL="0" indent="0">
              <a:buNone/>
            </a:pPr>
            <a:r>
              <a:rPr lang="en-US" dirty="0">
                <a:solidFill>
                  <a:srgbClr val="E4EFE8"/>
                </a:solidFill>
                <a:latin typeface="Calibri" pitchFamily="34" charset="0"/>
                <a:cs typeface="Calibri" pitchFamily="34" charset="-120"/>
              </a:rPr>
              <a:t>Gospel N. Lebari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 ·  Wikidata  ·  Multilingual AI  ·  R-Based Reproducible Audit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but different layers of the Wikimedia knowledge ecosystem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7F6F2"/>
          </a:solidFill>
          <a:ln/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6" name="Image 0" descr="/home/claude/build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Wikipedia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encyclopedic narratives. Each language edition is written and curated independently — coverage, depth, and framing can differ from one language to the next.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A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language editions · independent narratives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160020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7F6F2"/>
          </a:solidFill>
          <a:ln/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92024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2" name="Image 1" descr="/home/claude/build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20409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920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Wikidata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00800" y="256032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structured knowledge graph of entities and relationships, with language-dependent labels, descriptions, aliases, and links back to Wikipedia articles.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0" y="44805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graph · language-dependent labels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534924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1B263B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534924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shows Wikimedia knowledge is unevenly represented across languages, regions, and social groups — and political knowledge is especially sensitive.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Nigerian political actor or party may have a detailed English Wikipedia article, but limited coverage in a Nigerian language — while its Wikidata item may have labels, descriptions, or references missing in some languages altogether.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76606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6" name="Image 0" descr="/home/claude/build/icons/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8867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96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Cross-language gaps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8620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articles, absent or limited Wikidata labels and descriptions across languages.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2331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76606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1" name="Image 1" descr="/home/claude/build/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28867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496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sourcing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32320" y="28620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statements and inconsistent reference coverage between languages.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50342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6" name="Image 2" descr="/home/claude/build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6241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336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differences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45994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narrative emphasis on the same political entity, language to language.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50342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21" name="Image 3" descr="/home/claude/build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6241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2336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 AI impact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32320" y="459943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differences can't automatically be blamed on Wikimedia — the model itself may carry pre-existing bias.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6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745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of the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15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7452F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508760"/>
            <a:ext cx="9692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quantify and compare political bias between English and selected Nigerian-language Wikimedia projects, in order to identify systemic neutrality gaps in regional political coverage.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07452F"/>
          </a:solidFill>
          <a:ln/>
        </p:spPr>
      </p:sp>
      <p:sp>
        <p:nvSpPr>
          <p:cNvPr id="7" name="Shape 5"/>
          <p:cNvSpPr/>
          <p:nvPr/>
        </p:nvSpPr>
        <p:spPr>
          <a:xfrm>
            <a:off x="2171700" y="429768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8" name="Image 0" descr="/home/claude/build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518" y="4438498"/>
            <a:ext cx="358445" cy="3584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5440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political information varies across languages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40233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07452F"/>
          </a:solidFill>
          <a:ln/>
        </p:spPr>
      </p:sp>
      <p:sp>
        <p:nvSpPr>
          <p:cNvPr id="12" name="Shape 9"/>
          <p:cNvSpPr/>
          <p:nvPr/>
        </p:nvSpPr>
        <p:spPr>
          <a:xfrm>
            <a:off x="5829300" y="429768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3" name="Image 1" descr="/home/claude/build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118" y="443849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09160" y="5440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vs. Wikidata consistency and completeness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402336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07452F"/>
          </a:solidFill>
          <a:ln/>
        </p:spPr>
      </p:sp>
      <p:sp>
        <p:nvSpPr>
          <p:cNvPr id="17" name="Shape 13"/>
          <p:cNvSpPr/>
          <p:nvPr/>
        </p:nvSpPr>
        <p:spPr>
          <a:xfrm>
            <a:off x="9486900" y="429768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8" name="Image 2" descr="/home/claude/build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718" y="443849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66760" y="5440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gaps measurably affect AI outputs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guide the study, from measurement to downstream AI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7F6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0A68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234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65960" y="174650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variation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2130552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information about Nigerian political figures and institutions varies across languages on Wikipedia and Wikidata.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7F6F2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2004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0A68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1234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65960" y="334670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systematic patterns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3730752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differences vary systematically by language, entity type, and salience — and check consistency between Wikipedia and Wikidata.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7F6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8006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0A68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00600"/>
            <a:ext cx="1234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65960" y="494690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AI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65960" y="5330952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identified Wikimedia asymmetries measurably influence multilingual, knowledge-grounded AI outputs; derive indicators for continuous auditing.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05940" y="1965960"/>
            <a:ext cx="914400" cy="914400"/>
          </a:xfrm>
          <a:prstGeom prst="ellipse">
            <a:avLst/>
          </a:prstGeom>
          <a:solidFill>
            <a:srgbClr val="0A684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information about Nigerian political figures and institutions vary across languages on Wikipedia and Wikidata?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2816" y="160020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00116" y="1965960"/>
            <a:ext cx="914400" cy="914400"/>
          </a:xfrm>
          <a:prstGeom prst="ellipse">
            <a:avLst/>
          </a:prstGeom>
          <a:solidFill>
            <a:srgbClr val="0A6847"/>
          </a:solidFill>
          <a:ln/>
        </p:spPr>
      </p:sp>
      <p:sp>
        <p:nvSpPr>
          <p:cNvPr id="9" name="Text 7"/>
          <p:cNvSpPr/>
          <p:nvPr/>
        </p:nvSpPr>
        <p:spPr>
          <a:xfrm>
            <a:off x="4242816" y="19659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17136" y="320040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observed differences systematically associated with language, political-entity type, or entity salience — and how consistent are Wikipedia and Wikidata representations of the same entities?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6992" y="160020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94292" y="1965960"/>
            <a:ext cx="914400" cy="9144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6992" y="19659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11312" y="320040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Wikimedia knowledge asymmetries produce measurable differences in multilingual AI outputs when equivalent political queries are tested under controlled retrieval conditions?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Shows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projects are multilingual knowledge infrastructure — but the evidence base is uneven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6" name="Image 0" descr="/home/claude/build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imbalance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content imbalances found across 40 Wikipedia language editions (Miquel-Ribé &amp; Laniado, 2018).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0520" y="1508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737360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1" name="Image 1" descr="/home/claude/build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762" y="18480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bias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89120" y="2377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and citizenship disparities identified in Wikidata (Shaik et al., 2021); bias varies by context (Das et al., 2023).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0" y="15087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001000" y="1737360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6" name="Image 2" descr="/home/claude/build/icons/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42" y="18480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&amp; precision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01000" y="23774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entity names and descriptions show lower coverage and precision in multilingual knowledge graphs (Conia et al., 2023).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1" name="Image 3" descr="/home/claude/build/icons/land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" y="399684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distortion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526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over- and under-representation of political parties across DBpedia and Wikidata (Karadeniz et al., 2022).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60520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25" name="Shape 19"/>
          <p:cNvSpPr/>
          <p:nvPr/>
        </p:nvSpPr>
        <p:spPr>
          <a:xfrm>
            <a:off x="4389120" y="38862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6" name="Image 4" descr="/home/claude/build/icons/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9762" y="399684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gaps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389120" y="4526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accessibility of Wikidata sources vary by language (Amaral et al., 2021).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772400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30" name="Shape 23"/>
          <p:cNvSpPr/>
          <p:nvPr/>
        </p:nvSpPr>
        <p:spPr>
          <a:xfrm>
            <a:off x="8001000" y="388620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1" name="Image 5" descr="/home/claude/build/icons/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1642" y="399684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108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Model-level effects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001000" y="4526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differences in political ideology found in multilingual LLMs (Nadeem et al., 2026).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cross-sectional computational audit, with a controlled experimental component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4344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6" name="Image 0" descr="/home/claude/build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1 — The Audit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441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&amp; comparative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how selected Nigerian political entities are represented across relevant Wikipedia language editions and Wikidata — coverage, completeness, provenance, and framing.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434840"/>
            <a:ext cx="4480560" cy="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572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national political entities · English + selected Nigerian languages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4344D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4" name="Image 1" descr="/home/claude/build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21323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057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2 — The AI Test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178040" y="2441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&amp; experimental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46520" y="29718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(RAG) experiment tests whether the Wikimedia asymmetries found in Component 1 influence downstream, multilingual AI outputs.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46520" y="4434840"/>
            <a:ext cx="4480560" cy="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4572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multilingual queries · no-retrieval, raw, and harmonised evidence conditions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Instruments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A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5" name="Image 0" descr="/home/claude/build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16194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813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Wikidata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88720" y="18013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labels, descriptions, aliases, sitelinks, statements &amp; references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9" name="Image 1" descr="/home/claude/build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2652674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Wikipedia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88720" y="2834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presence, lead-section text, metadata across languages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3575304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3" name="Image 2" descr="/home/claude/build/icons/lan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3685946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5478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benchmarks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88720" y="38679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Electoral, parliamentary &amp; government records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48640" y="4608576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7" name="Image 3" descr="/home/claude/build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4719218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5811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experiment outputs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88720" y="490118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 matched multilingual political queries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6035040" y="109728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7F6F2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0" y="1325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INSTRUMENTS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995160" y="1737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Entity-sampling &amp; benchmark matrix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99516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electoral relevance, Wikidata ID, available language pages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6400800" y="2862072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95160" y="28163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scripts &amp; SPARQL/API templates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995160" y="318211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extraction into structured datasets</a:t>
            </a:r>
            <a:endParaRPr lang="en-US" sz="1030" dirty="0"/>
          </a:p>
        </p:txBody>
      </p:sp>
      <p:sp>
        <p:nvSpPr>
          <p:cNvPr id="30" name="Shape 24"/>
          <p:cNvSpPr/>
          <p:nvPr/>
        </p:nvSpPr>
        <p:spPr>
          <a:xfrm>
            <a:off x="6400800" y="3941064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995160" y="38953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audit checklist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6995160" y="426110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presence, completeness, reference coverage, consistency</a:t>
            </a:r>
            <a:endParaRPr lang="en-US" sz="1030" dirty="0"/>
          </a:p>
        </p:txBody>
      </p:sp>
      <p:sp>
        <p:nvSpPr>
          <p:cNvPr id="34" name="Shape 28"/>
          <p:cNvSpPr/>
          <p:nvPr/>
        </p:nvSpPr>
        <p:spPr>
          <a:xfrm>
            <a:off x="6400800" y="5020056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995160" y="49743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Framing-analysis codebook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6995160" y="534009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omission, ideological wording, emphasis, contradiction</a:t>
            </a:r>
            <a:endParaRPr lang="en-US" sz="103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in Four Stages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the principal environment throughout — extraction, cleaning, analysis and visualisation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2668" y="17373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5648" y="1481328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09928" y="2121408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8" name="Image 0" descr="/home/claude/build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687" y="2252167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9828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coverage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55548" y="35661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presence &amp; label/description/sitelink coverage by language and entity type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3241548" y="31089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97580" y="17373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481328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434840" y="2121408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1" descr="/home/claude/build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599" y="2252167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474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 &amp; provenance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80460" y="35661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Structured-completeness scores, reference proportions, cross-project consistency</a:t>
            </a:r>
            <a:endParaRPr lang="en-US" sz="1030" dirty="0"/>
          </a:p>
        </p:txBody>
      </p:sp>
      <p:sp>
        <p:nvSpPr>
          <p:cNvPr id="19" name="Text 15"/>
          <p:cNvSpPr/>
          <p:nvPr/>
        </p:nvSpPr>
        <p:spPr>
          <a:xfrm>
            <a:off x="5966460" y="31089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222492" y="17373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05472" y="1481328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sp>
        <p:nvSpPr>
          <p:cNvPr id="22" name="Text 18"/>
          <p:cNvSpPr/>
          <p:nvPr/>
        </p:nvSpPr>
        <p:spPr>
          <a:xfrm>
            <a:off x="7205472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159752" y="2121408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4" name="Image 2" descr="/home/claude/build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511" y="2252167"/>
            <a:ext cx="332842" cy="33284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9652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divergence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405372" y="35661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similarity, key-term comparison, human-validated coding of framing</a:t>
            </a:r>
            <a:endParaRPr lang="en-US" sz="1030" dirty="0"/>
          </a:p>
        </p:txBody>
      </p:sp>
      <p:sp>
        <p:nvSpPr>
          <p:cNvPr id="27" name="Text 22"/>
          <p:cNvSpPr/>
          <p:nvPr/>
        </p:nvSpPr>
        <p:spPr>
          <a:xfrm>
            <a:off x="8691372" y="31089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947404" y="17373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930384" y="1481328"/>
            <a:ext cx="502920" cy="502920"/>
          </a:xfrm>
          <a:prstGeom prst="ellipse">
            <a:avLst/>
          </a:prstGeom>
          <a:solidFill>
            <a:srgbClr val="0A6847"/>
          </a:solidFill>
          <a:ln/>
        </p:spPr>
      </p:sp>
      <p:sp>
        <p:nvSpPr>
          <p:cNvPr id="30" name="Text 25"/>
          <p:cNvSpPr/>
          <p:nvPr/>
        </p:nvSpPr>
        <p:spPr>
          <a:xfrm>
            <a:off x="9930384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9884664" y="2121408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2" name="Image 3" descr="/home/claude/build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423" y="2252167"/>
            <a:ext cx="332842" cy="33284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84564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propagation test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130284" y="35661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no-retrieval, raw, and harmonised evidence conditions on AI outputs</a:t>
            </a:r>
            <a:endParaRPr lang="en-US" sz="103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6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5029200" cy="5029200"/>
          </a:xfrm>
          <a:prstGeom prst="ellipse">
            <a:avLst/>
          </a:prstGeom>
          <a:solidFill>
            <a:srgbClr val="0745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Contribution &amp; Significance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6" name="Image 0" descr="/home/claude/build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819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 framework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auditing political knowledge across the linked Wikimedia ecosystem, Nigeria-focused.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5989320" y="141732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192024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1" name="Image 1" descr="/home/claude/build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621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5819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Distinguishes the layers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49440" y="19476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Wikipedia language-edition differences from Wikidata's shared structured layer.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16" name="Image 2" descr="/home/claude/build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8240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649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AI impact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73075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whether Wikimedia gaps can affect knowledge-grounded AI responses.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5989320" y="320040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0" y="3703320"/>
            <a:ext cx="548640" cy="548640"/>
          </a:xfrm>
          <a:prstGeom prst="ellipse">
            <a:avLst/>
          </a:prstGeom>
          <a:solidFill>
            <a:srgbClr val="0A6847"/>
          </a:solidFill>
          <a:ln/>
        </p:spPr>
      </p:sp>
      <p:pic>
        <p:nvPicPr>
          <p:cNvPr id="21" name="Image 3" descr="/home/claude/build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8240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3649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indicators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49440" y="373075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R-based workflow and audit indicators for Wikimedia communities, researchers, and AI developers.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07452F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3492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will target publication in a high-indexed, peer-reviewed Scopus journal — contributing to computational social science from the Global South, with a Nigerian perspective.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boundaries on what the study can — and cannot — claim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6" name="Image 0" descr="/home/claude/build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197693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is contested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68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differences are not automatically evidence of bias.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10" name="Shape 7"/>
          <p:cNvSpPr/>
          <p:nvPr/>
        </p:nvSpPr>
        <p:spPr>
          <a:xfrm>
            <a:off x="6245352" y="1856232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1" name="Image 1" descr="/home/claude/build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53" y="197693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content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245352" y="2468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Nigerian-language Wikimedia content may limit statistical power — though absence is itself a finding.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050792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6" name="Image 2" descr="/home/claude/build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417149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moving target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663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content changes continuously; the study uses a fixed, time-bounded snapshot.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379476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7F6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245352" y="4050792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1" name="Image 3" descr="/home/claude/build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053" y="417149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generalisation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245352" y="4663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downstream AI test cannot be generalised to every commercial system or hidden training corpus.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Cross-Linguistic Political Bias in the Wikimedia Ecosystem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943600" cy="5943600"/>
          </a:xfrm>
          <a:prstGeom prst="ellipse">
            <a:avLst/>
          </a:prstGeom>
          <a:solidFill>
            <a:srgbClr val="24344D"/>
          </a:solidFill>
          <a:ln/>
        </p:spPr>
      </p:sp>
      <p:pic>
        <p:nvPicPr>
          <p:cNvPr id="3" name="Image 0" descr="/home/claude/build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19202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54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Note for Inclusive and Responsible AI — Group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1168</Words>
  <Application>Microsoft Office PowerPoint</Application>
  <PresentationFormat>Widescreen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3</cp:revision>
  <dcterms:created xsi:type="dcterms:W3CDTF">2026-07-30T11:14:49Z</dcterms:created>
  <dcterms:modified xsi:type="dcterms:W3CDTF">2026-07-30T14:28:34Z</dcterms:modified>
</cp:coreProperties>
</file>