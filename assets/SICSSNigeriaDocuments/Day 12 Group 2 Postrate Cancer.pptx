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929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B1F2A-D8BE-C71E-2ACC-7C0F8CE38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B101F8-D5AB-EEDB-E7D1-28EF63A15D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991451-7F5C-E1E3-F99B-051DFC94FD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20D96-DAE3-760D-BDEB-3A1B99742C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2226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F4B06-99B9-0FCA-E8E2-E847F7869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6FF8E0-0495-34EC-005F-ACDF2808AF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8CED95-8AC0-C787-7228-2DA6BC4B92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8C2FF-DA0C-36D5-6E0F-7B9130A80D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552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MP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23444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Mapping Nigeria's Place in the Global Prostate Cancer Knowledge Graph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3232" y="233172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Computational Wikidata Network Analysis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9718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Note Presentation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53949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Focus: prostate cancer · Wikidata · Nigeria · representation audit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1852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1DFDC37C-12CC-CB97-7EC5-6C367140821B}"/>
              </a:ext>
            </a:extLst>
          </p:cNvPr>
          <p:cNvSpPr/>
          <p:nvPr/>
        </p:nvSpPr>
        <p:spPr>
          <a:xfrm>
            <a:off x="4658360" y="604418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75569"/>
                </a:solidFill>
                <a:latin typeface="Aptos" pitchFamily="34" charset="0"/>
              </a:rPr>
              <a:t>SICSS 2026, GROUP 2</a:t>
            </a:r>
            <a:endParaRPr lang="en-US" sz="28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297C996-29D5-3172-24B9-3CDF124A0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113" y="5302943"/>
            <a:ext cx="1322407" cy="9844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3244C-2A00-8FA0-2EEB-ABB71C0EE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F8007F2-211F-B680-AEA7-9883EF454944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B070EFD-9D92-8111-7517-10BEC1915A72}"/>
              </a:ext>
            </a:extLst>
          </p:cNvPr>
          <p:cNvSpPr/>
          <p:nvPr/>
        </p:nvSpPr>
        <p:spPr>
          <a:xfrm>
            <a:off x="594360" y="41148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</a:rPr>
              <a:t>Table of Contents</a:t>
            </a:r>
            <a:endParaRPr lang="en-US" sz="2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7FB0324-993E-11C2-29A1-BB285232CF34}"/>
              </a:ext>
            </a:extLst>
          </p:cNvPr>
          <p:cNvSpPr/>
          <p:nvPr/>
        </p:nvSpPr>
        <p:spPr>
          <a:xfrm>
            <a:off x="203200" y="1410974"/>
            <a:ext cx="9946640" cy="403605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Background and Research Rationale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Research Gap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Problem statement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Aims and Objectives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Foundation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Methodological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Network Analysis Plan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Representation Benchmark Auditing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Expected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Conclusion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References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DB0C1E9-BD44-8779-3D17-B8A0A9966B2F}"/>
              </a:ext>
            </a:extLst>
          </p:cNvPr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3A7B465-E03F-E503-9A2A-C15DA8791BEA}"/>
              </a:ext>
            </a:extLst>
          </p:cNvPr>
          <p:cNvSpPr/>
          <p:nvPr/>
        </p:nvSpPr>
        <p:spPr>
          <a:xfrm>
            <a:off x="59436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Mapping Nigeria in the Prostate Cancer Knowledge Graph</a:t>
            </a:r>
            <a:endParaRPr lang="en-US" sz="8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405661C-4BA8-0C66-1FA3-CC1E5DAD9157}"/>
              </a:ext>
            </a:extLst>
          </p:cNvPr>
          <p:cNvSpPr/>
          <p:nvPr/>
        </p:nvSpPr>
        <p:spPr>
          <a:xfrm>
            <a:off x="1101852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13E08A4-0BEC-12C4-52B5-57BC60AA4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0835" y="5167108"/>
            <a:ext cx="1444885" cy="1072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639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Background and Rationale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87782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study matters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3474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vert="horz"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Public-health concern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Prostate cancer remains a leading cancer burden among men, with late diagnosis and limited awareness worsening outcomes.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43400" y="1600200"/>
            <a:ext cx="3474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vert="horz"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ecosystem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knowledge platforms now shape how disease information is structured, searched, reused, and represented.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0" y="1600200"/>
            <a:ext cx="3474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vert="horz"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Africa gap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Wikimedia studies show geographic imbalances in participation and content, with African countries under-represented.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251960"/>
            <a:ext cx="105156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premise: representation gaps in structured knowledge graphs can affect what becomes visible, reusable, and editable about African health realities.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Mapping Nigeria in the Prostate Cancer Knowledge Graph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01852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E181279-D736-3D94-213A-D7514A5B7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3298" y="5153040"/>
            <a:ext cx="1496702" cy="11121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Gap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87782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has not yet been adequately examined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</a:rPr>
              <a:t>Known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498348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Prior Wikimedia research has documented geographic bias and unequal participation.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Most attention has been on Wikipedia article-level content.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46520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</a:rPr>
              <a:t>Unresolved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46520" y="1874520"/>
            <a:ext cx="498348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Whether similar imbalance exists inside Wikidata’s machine-readable entity networks.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Where Nigeria appears or disappears within the prostate cancer knowledge graph.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80760" y="1508760"/>
            <a:ext cx="0" cy="210312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4434840"/>
            <a:ext cx="100584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statement: No disease-specific computational mapping has yet clarified Nigeria’s representation in the Wikidata prostate cancer graph.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Mapping Nigeria in the Prostate Cancer Knowledge Graph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01852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88FE2BE-2011-C213-F5C6-CD56E3BF6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4322" y="5252590"/>
            <a:ext cx="1411358" cy="10446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87782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issues motivate the study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50749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vert="horz" wrap="square" lIns="1905" tIns="1905" rIns="1905" bIns="1905" rtlCol="0" anchor="ctr">
            <a:normAutofit/>
          </a:bodyPr>
          <a:lstStyle/>
          <a:p>
            <a:pPr marL="342900" indent="-342900">
              <a:buAutoNum type="arabicPeriod"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Representation uncertainty</a:t>
            </a:r>
            <a:endParaRPr lang="en-US" sz="1400" b="1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number of clinical trials and publications linked to prostate cancer appears small relative to the disease’s global research footprint.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09360" y="1600200"/>
            <a:ext cx="50749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vert="horz"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</a:t>
            </a: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Data-quality concern</a:t>
            </a:r>
            <a:endParaRPr lang="en-US" sz="1400" b="1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SPARQL outputs appear mismatched to unrelated items, such as works of fiction or films sharing labels with publications.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4434840"/>
            <a:ext cx="9966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Therefore, the study must audit both representation and data quality before recommending Wikidata improvements.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Mapping Nigeria in the Prostate Cancer Knowledge Graph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01852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3B47274-7900-A696-455A-4FF40C8E8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105" y="5317953"/>
            <a:ext cx="1315855" cy="970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Aim and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87782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Precise direction of the study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13716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107899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computationally map the structure of the prostate cancer knowledge graph on Wikidata and quantify Nigeria’s representation within it.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33375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vert="horz"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Construct and analyze the prostate cancer entity network on Wikidata.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34840" y="3383280"/>
            <a:ext cx="33375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vert="horz"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Quantify Nigerian representation in linked trials and publications, then benchmark against reference disease figures.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92440" y="3383280"/>
            <a:ext cx="33375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vert="horz"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prioritized recommendations for targeted Wikidata contributions.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Mapping Nigeria in the Prostate Cancer Knowledge Graph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01852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9DE5A34-C9DE-EABC-3339-4B5A4B97C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422" y="5304041"/>
            <a:ext cx="1213218" cy="8986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Foundation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87782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Wikidata extracts and planned expansion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32918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vert="horz"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Two-hop network</a:t>
            </a:r>
            <a:endParaRPr lang="en-US" sz="1400" b="1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1,124 relations rooted at the prostate cancer item.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434840" y="1417320"/>
            <a:ext cx="32918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vert="horz"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Treatment set</a:t>
            </a:r>
            <a:endParaRPr lang="en-US" sz="1400" b="1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 relations covering genetic associations, therapies, and symptoms.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92440" y="1417320"/>
            <a:ext cx="32918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vert="horz"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Trials list</a:t>
            </a:r>
            <a:endParaRPr lang="en-US" sz="1400" b="1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trials linked to the prostate cancer entity.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32918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vert="horz"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Publications list</a:t>
            </a:r>
            <a:endParaRPr lang="en-US" sz="1400" b="1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Linked publication entities requiring representation and quality checks.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34840" y="3063240"/>
            <a:ext cx="32918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vert="horz"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Additional SPARQL</a:t>
            </a:r>
            <a:endParaRPr lang="en-US" sz="1400" b="1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Further querying will expand entities, properties, and relations.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92440" y="3063240"/>
            <a:ext cx="32918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vert="horz"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Versioning</a:t>
            </a:r>
            <a:endParaRPr lang="en-US" sz="1400" b="1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data pull will be dated and preserved for reproducibility.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Mapping Nigeria in the Prostate Cancer Knowledge Graph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01852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6448197-906D-E6C9-D8BD-342F472B1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8335" y="5349240"/>
            <a:ext cx="1135945" cy="8414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Methodological 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87782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Wikidata extraction to actionable recommendations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240280" y="2834640"/>
            <a:ext cx="594360" cy="0"/>
          </a:xfrm>
          <a:prstGeom prst="line">
            <a:avLst/>
          </a:prstGeom>
          <a:noFill/>
          <a:ln w="1524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343400" y="2834640"/>
            <a:ext cx="594360" cy="0"/>
          </a:xfrm>
          <a:prstGeom prst="line">
            <a:avLst/>
          </a:prstGeom>
          <a:noFill/>
          <a:ln w="1524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446520" y="2834640"/>
            <a:ext cx="594360" cy="0"/>
          </a:xfrm>
          <a:prstGeom prst="line">
            <a:avLst/>
          </a:prstGeom>
          <a:noFill/>
          <a:ln w="1524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549640" y="2834640"/>
            <a:ext cx="594360" cy="0"/>
          </a:xfrm>
          <a:prstGeom prst="line">
            <a:avLst/>
          </a:prstGeom>
          <a:noFill/>
          <a:ln w="1524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731520" y="2423160"/>
            <a:ext cx="1508760" cy="822960"/>
          </a:xfrm>
          <a:prstGeom prst="rect">
            <a:avLst/>
          </a:prstGeom>
          <a:solidFill>
            <a:srgbClr val="EFF6FF"/>
          </a:solidFill>
          <a:ln w="10160">
            <a:solidFill>
              <a:srgbClr val="1D4E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SPARQL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34640" y="2423160"/>
            <a:ext cx="1508760" cy="822960"/>
          </a:xfrm>
          <a:prstGeom prst="rect">
            <a:avLst/>
          </a:prstGeom>
          <a:solidFill>
            <a:srgbClr val="EFF6FF"/>
          </a:solidFill>
          <a:ln w="10160">
            <a:solidFill>
              <a:srgbClr val="1D4E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2423160"/>
            <a:ext cx="1508760" cy="822960"/>
          </a:xfrm>
          <a:prstGeom prst="rect">
            <a:avLst/>
          </a:prstGeom>
          <a:solidFill>
            <a:srgbClr val="EFF6FF"/>
          </a:solidFill>
          <a:ln w="10160">
            <a:solidFill>
              <a:srgbClr val="1D4E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40880" y="2423160"/>
            <a:ext cx="1508760" cy="822960"/>
          </a:xfrm>
          <a:prstGeom prst="rect">
            <a:avLst/>
          </a:prstGeom>
          <a:solidFill>
            <a:srgbClr val="EFF6FF"/>
          </a:solidFill>
          <a:ln w="10160">
            <a:solidFill>
              <a:srgbClr val="1D4E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0" y="2423160"/>
            <a:ext cx="1508760" cy="822960"/>
          </a:xfrm>
          <a:prstGeom prst="rect">
            <a:avLst/>
          </a:prstGeom>
          <a:solidFill>
            <a:srgbClr val="EFF6FF"/>
          </a:solidFill>
          <a:ln w="10160">
            <a:solidFill>
              <a:srgbClr val="1D4E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4160520"/>
            <a:ext cx="99212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output: prioritized Wikidata items and statements to add, correct, or expand for stronger Nigeria-focused representation.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Mapping Nigeria in the Prostate Cancer Knowledge Graph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01852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6329847-D63C-68DD-D24D-C1EBFF87E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1007" y="5315143"/>
            <a:ext cx="1095305" cy="8113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Network Analysis Plan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87782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Wikidata graph will be examined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34290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vert="horz"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model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Directed multigraph computed in R programming language.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89120" y="1417320"/>
            <a:ext cx="34290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vert="horz"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Entity classes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Genes, drugs, symptoms, conditions, and taxa typed by connecting property semantics.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01000" y="1417320"/>
            <a:ext cx="34290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vert="horz"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Centrality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Degree and eigenvector centrality will identify structurally important entities.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06040" y="3337560"/>
            <a:ext cx="34290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vert="horz"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Communities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Louvain community detection will reveal clusters such as genetic-association and treatment groups.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72200" y="3337560"/>
            <a:ext cx="34290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vert="horz"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position will guide which areas require correction, expansion, or Nigeria-focused enrichment.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Mapping Nigeria in the Prostate Cancer Knowledge Graph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01852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F63D31A-A958-47F1-88C9-8FBC77412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375" y="5349240"/>
            <a:ext cx="1115625" cy="82638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Representation and Benchmarking Audit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87782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 whether Nigeria is visible in linked evidence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question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10512"/>
            <a:ext cx="104241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Nigerian clinical trials, publications, institutions, authors, or disease-burden realities visible within the Wikidata prostate cancer graph?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3383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vert="horz"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Wikidata-linked evidence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trials and publications associated with the prostate cancer item.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0" y="2880360"/>
            <a:ext cx="3383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vert="horz"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sources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GLOBOCAN, Nigerian cancer-registry sources, WHO, and Ministry of Health figures.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01000" y="2880360"/>
            <a:ext cx="3383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vert="horz"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outcome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quantified account of under-representation, over-representation, or data-quality gaps.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Mapping Nigeria in the Prostate Cancer Knowledge Graph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01852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957C132-DC78-66F6-89B6-14596BBEA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8831" y="5088574"/>
            <a:ext cx="1176889" cy="8717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Results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87782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study will deliver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68680" y="1417320"/>
            <a:ext cx="1024128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mapped prostate cancer Wikidata network showing central entities and communities.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benchmarked audit of Nigeria’s representation in linked trials and publications.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 entity-quality audit identifying mismatches and problematic records.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prioritized list of Wikidata items and statements to add, correct, or expand.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scientific manuscript targeted at a reputable Scopus-indexed journal.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4199128"/>
            <a:ext cx="98755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Value: the work moves Wikidata improvement from general awareness to evidence-based, targeted intervention.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Mapping Nigeria in the Prostate Cancer Knowledge Graph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01852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9CC5A61-11FA-042A-5639-F6804B7F7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4655" y="5177251"/>
            <a:ext cx="1095305" cy="81133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1430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3"/>
                </a:solidFill>
                <a:latin typeface="Aptos Display" pitchFamily="34" charset="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48840"/>
            <a:ext cx="1051560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study will show where Nigeria is visible, missing, or misrepresented in the global prostate cancer knowledge graph—and translate those findings into practical Wikidata improvement priorities.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57400" y="4160520"/>
            <a:ext cx="150876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1D4E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Computational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977640" y="4160520"/>
            <a:ext cx="160020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04785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35040" y="4160520"/>
            <a:ext cx="160020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4530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Nigeria-focused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92440" y="4160520"/>
            <a:ext cx="160020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91C1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Wikidata-ready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Mapping Nigeria in the Prostate Cancer Knowledge Graph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01852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30692F6-983B-AAAF-B8A0-577CEB11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1616" y="5148631"/>
            <a:ext cx="1196904" cy="8865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1E614-98B0-649B-A82F-34AD23FFF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1F4913C-22C5-46D2-C564-CD1CE48DFE4C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AF07791-24F0-DF23-D889-57A77F26CB69}"/>
              </a:ext>
            </a:extLst>
          </p:cNvPr>
          <p:cNvSpPr/>
          <p:nvPr/>
        </p:nvSpPr>
        <p:spPr>
          <a:xfrm>
            <a:off x="731520" y="11430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3"/>
                </a:solidFill>
                <a:latin typeface="Aptos Display" pitchFamily="34" charset="0"/>
              </a:rPr>
              <a:t>References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6FFC218-28E6-1AC6-C762-AF26D98FFE98}"/>
              </a:ext>
            </a:extLst>
          </p:cNvPr>
          <p:cNvSpPr/>
          <p:nvPr/>
        </p:nvSpPr>
        <p:spPr>
          <a:xfrm>
            <a:off x="777240" y="2148839"/>
            <a:ext cx="10789920" cy="333755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just" rtl="0">
              <a:spcBef>
                <a:spcPts val="0"/>
              </a:spcBef>
              <a:spcAft>
                <a:spcPts val="1000"/>
              </a:spcAft>
            </a:pP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Adeloye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D., David, R. A.,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Aderemi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A. V.,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Iseolorunkanmi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A.,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Oyedokun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A., Iweala, E. E. J., &amp;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Omoregbe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N. (2016). An estimate of the incidence of prostate cancer in Africa: A systematic review and meta-analysis.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PLoS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ONE, 11(4), e0153496.</a:t>
            </a:r>
            <a:endParaRPr lang="en-US" sz="2400" b="0" dirty="0">
              <a:effectLst/>
            </a:endParaRPr>
          </a:p>
          <a:p>
            <a:pPr algn="just" rtl="0">
              <a:spcBef>
                <a:spcPts val="0"/>
              </a:spcBef>
              <a:spcAft>
                <a:spcPts val="10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Graham, M., Straumann, R. K., &amp; Hogan, B. (2015). Digital divisions of labor and informational magnetism: Mapping participation in Wikipedia. Annals of the Association of American Geographers, 105(6), 1158–1178.</a:t>
            </a:r>
            <a:endParaRPr lang="en-US" sz="2400" b="0" dirty="0">
              <a:effectLst/>
            </a:endParaRPr>
          </a:p>
          <a:p>
            <a:pPr algn="just" rtl="0">
              <a:spcBef>
                <a:spcPts val="0"/>
              </a:spcBef>
              <a:spcAft>
                <a:spcPts val="10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Sung, H.,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Ferlay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J., Siegel, R. L.,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Laversanne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M.,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Soerjomataram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I., Jemal, A., &amp; Bray, F. (2021). Global cancer statistics 2020: GLOBOCAN estimates of incidence and mortality worldwide for 36 cancers in 185 countries. CA: A Cancer Journal for Clinicians, 71(3), 209–249.</a:t>
            </a:r>
            <a:endParaRPr lang="en-US" sz="2400" b="0" dirty="0">
              <a:effectLst/>
            </a:endParaRPr>
          </a:p>
          <a:p>
            <a:br>
              <a:rPr lang="en-US" sz="2400" dirty="0"/>
            </a:br>
            <a:endParaRPr lang="en-US" sz="24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399C4D8-A245-B875-3266-620D7B48497E}"/>
              </a:ext>
            </a:extLst>
          </p:cNvPr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C80EC46-D295-6EB1-0FD0-32D110046878}"/>
              </a:ext>
            </a:extLst>
          </p:cNvPr>
          <p:cNvSpPr/>
          <p:nvPr/>
        </p:nvSpPr>
        <p:spPr>
          <a:xfrm>
            <a:off x="59436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Mapping Nigeria in the Prostate Cancer Knowledge Graph</a:t>
            </a:r>
            <a:endParaRPr lang="en-US" sz="8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C8B51B2-7001-276A-B53D-163871788228}"/>
              </a:ext>
            </a:extLst>
          </p:cNvPr>
          <p:cNvSpPr/>
          <p:nvPr/>
        </p:nvSpPr>
        <p:spPr>
          <a:xfrm>
            <a:off x="11018520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1183780-A180-6D9A-6035-38CA527BA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5990" y="5227277"/>
            <a:ext cx="1316850" cy="97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987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</TotalTime>
  <Words>1061</Words>
  <Application>Microsoft Office PowerPoint</Application>
  <PresentationFormat>Widescreen</PresentationFormat>
  <Paragraphs>167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Mapping Nigeria's Place in the Global Prostate Cancer Knowledge Graph</dc:title>
  <dc:subject>Concept note presentation</dc:subject>
  <dc:creator>OpenAI</dc:creator>
  <cp:lastModifiedBy>Samuel Mbuk</cp:lastModifiedBy>
  <cp:revision>5</cp:revision>
  <dcterms:created xsi:type="dcterms:W3CDTF">2026-07-30T07:37:15Z</dcterms:created>
  <dcterms:modified xsi:type="dcterms:W3CDTF">2026-07-30T14:45:27Z</dcterms:modified>
</cp:coreProperties>
</file>